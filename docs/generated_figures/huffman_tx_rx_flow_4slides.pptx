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3833bfd4c04454" /><Relationship Type="http://schemas.openxmlformats.org/officeDocument/2006/relationships/extended-properties" Target="/docProps/app.xml" Id="Rbfca3b007a9a4c57" /><Relationship Type="http://schemas.openxmlformats.org/officeDocument/2006/relationships/officeDocument" Target="/ppt/presentation.xml" Id="R10297d4929c94b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1a69d646c74060"/>
  </p:sldMasterIdLst>
  <p:notesMasterIdLst>
    <p:notesMasterId xmlns:r="http://schemas.openxmlformats.org/officeDocument/2006/relationships" r:id="Re8f8a7fc56c34071"/>
  </p:notesMasterIdLst>
  <p:sldIdLst>
    <p:sldId xmlns:r="http://schemas.openxmlformats.org/officeDocument/2006/relationships" id="256" r:id="R92a1b9c8ad5c42fc"/>
    <p:sldId xmlns:r="http://schemas.openxmlformats.org/officeDocument/2006/relationships" id="257" r:id="Rf58cd264b9d44f9a"/>
    <p:sldId xmlns:r="http://schemas.openxmlformats.org/officeDocument/2006/relationships" id="258" r:id="Rf440871bbfaa4b3c"/>
    <p:sldId xmlns:r="http://schemas.openxmlformats.org/officeDocument/2006/relationships" id="259" r:id="Recbde9a054f3478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fea8379674483a" /><Relationship Type="http://schemas.openxmlformats.org/officeDocument/2006/relationships/slideMaster" Target="/ppt/slideMasters/slideMaster1.xml" Id="Re61a69d646c74060" /><Relationship Type="http://schemas.openxmlformats.org/officeDocument/2006/relationships/notesMaster" Target="/ppt/notesMasters/notesMaster1.xml" Id="Re8f8a7fc56c34071" /><Relationship Type="http://schemas.openxmlformats.org/officeDocument/2006/relationships/presProps" Target="/ppt/presProps.xml" Id="Rb5ab5bd0cd9f4709" /><Relationship Type="http://schemas.openxmlformats.org/officeDocument/2006/relationships/tableStyles" Target="/ppt/tableStyles.xml" Id="R2440387608654f93" /><Relationship Type="http://schemas.openxmlformats.org/officeDocument/2006/relationships/slide" Target="/ppt/slides/slide1.xml" Id="R92a1b9c8ad5c42fc" /><Relationship Type="http://schemas.openxmlformats.org/officeDocument/2006/relationships/slide" Target="/ppt/slides/slide2.xml" Id="Rf58cd264b9d44f9a" /><Relationship Type="http://schemas.openxmlformats.org/officeDocument/2006/relationships/slide" Target="/ppt/slides/slide3.xml" Id="Rf440871bbfaa4b3c" /><Relationship Type="http://schemas.openxmlformats.org/officeDocument/2006/relationships/slide" Target="/ppt/slides/slide4.xml" Id="Recbde9a054f347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a22319a58248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0a0c4244cf4717" /><Relationship Type="http://schemas.openxmlformats.org/officeDocument/2006/relationships/notesMaster" Target="/ppt/notesMasters/notesMaster1.xml" Id="R47dd4e81b9e74c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efd219ed9c4a2a" /><Relationship Type="http://schemas.openxmlformats.org/officeDocument/2006/relationships/notesMaster" Target="/ppt/notesMasters/notesMaster1.xml" Id="R280c98ac861a4b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5465408b0041b4" /><Relationship Type="http://schemas.openxmlformats.org/officeDocument/2006/relationships/notesMaster" Target="/ppt/notesMasters/notesMaster1.xml" Id="R8d6d0f4bc8f449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40da20552c4bb6" /><Relationship Type="http://schemas.openxmlformats.org/officeDocument/2006/relationships/notesMaster" Target="/ppt/notesMasters/notesMaster1.xml" Id="Rdd1387ba04d746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159796811346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3d4359f2b04574" /><Relationship Type="http://schemas.openxmlformats.org/officeDocument/2006/relationships/slideLayout" Target="/ppt/slideLayouts/slideLayout1.xml" Id="R461cfe6e08ec49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1cfe6e08ec49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4ffb5d8a545b9" /><Relationship Type="http://schemas.openxmlformats.org/officeDocument/2006/relationships/notesSlide" Target="/ppt/notesSlides/notesSlide1.xml" Id="Rd48905bbf20941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55bb4ca7d4bab" /><Relationship Type="http://schemas.openxmlformats.org/officeDocument/2006/relationships/notesSlide" Target="/ppt/notesSlides/notesSlide2.xml" Id="Red0f843fb38d41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0836d634c4418" /><Relationship Type="http://schemas.openxmlformats.org/officeDocument/2006/relationships/notesSlide" Target="/ppt/notesSlides/notesSlide3.xml" Id="R35b778c85f9a40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e78d374ea4c78" /><Relationship Type="http://schemas.openxmlformats.org/officeDocument/2006/relationships/notesSlide" Target="/ppt/notesSlides/notesSlide4.xml" Id="Re2ce57b10eff47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38B17C-22A8-4FA0-A3BD-D0C5B0E3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3F98"/>
                </a:solidFill>
              </a:defRPr>
            </a:pPr>
            <a:r>
              <a:rPr sz="2700" b="1">
                <a:solidFill>
                  <a:srgbClr val="0B3F98"/>
                </a:solidFill>
              </a:rPr>
              <a:t>TX Huffman Tree to Code Length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98230-64C6-405F-BC89-080A7C9B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TX builds a Huffman tree by repeatedly merging the two lowest-weight nodes, then uses leaf depth as code_len.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D8DAE-1898-4702-B453-1E58EA31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F98"/>
          </a:solidFill>
          <a:ln xmlns:a="http://schemas.openxmlformats.org/drawingml/2006/main" w="0">
            <a:solidFill>
              <a:srgbClr val="0B3F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3621B-642E-48E4-AA84-C1B10EBD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162050"/>
            <a:ext cx="3190875" cy="461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3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74FD87-1E3D-404A-AA75-A450E9B3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162050"/>
            <a:ext cx="3190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F98"/>
          </a:solidFill>
          <a:ln xmlns:a="http://schemas.openxmlformats.org/drawingml/2006/main" w="0">
            <a:solidFill>
              <a:srgbClr val="0B3F9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D3A33-4CB1-4A27-B851-E8F3B740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2886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1. Initial partial trees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5A689-7BD4-49F5-BB7E-73E307CF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764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Start with one leaf per symbol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77A8A-5AEA-496B-AE28-77327333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32" y="2154936"/>
            <a:ext cx="554736" cy="490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817"/>
          </a:solidFill>
          <a:ln xmlns:a="http://schemas.openxmlformats.org/drawingml/2006/main" w="1143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92" b="1">
                <a:solidFill>
                  <a:srgbClr val="111827"/>
                </a:solidFill>
              </a:defRPr>
            </a:pPr>
            <a:r>
              <a:rPr sz="1092" b="1">
                <a:solidFill>
                  <a:srgbClr val="111827"/>
                </a:solidFill>
              </a:rPr>
              <a:t>2</a:t>
            </a:r>
          </a:p>
          <a:p xmlns:a="http://schemas.openxmlformats.org/drawingml/2006/main">
            <a:pPr algn="ctr">
              <a:defRPr sz="1092" b="1">
                <a:solidFill>
                  <a:srgbClr val="111827"/>
                </a:solidFill>
              </a:defRPr>
            </a:pPr>
            <a:r>
              <a:rPr sz="1092" b="1">
                <a:solidFill>
                  <a:srgbClr val="111827"/>
                </a:solidFill>
              </a:rPr>
              <a:t>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95DDAC-8CF2-4F86-AD90-0AD141BD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732" y="2154936"/>
            <a:ext cx="554736" cy="490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817"/>
          </a:solidFill>
          <a:ln xmlns:a="http://schemas.openxmlformats.org/drawingml/2006/main" w="1143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92" b="1">
                <a:solidFill>
                  <a:srgbClr val="111827"/>
                </a:solidFill>
              </a:defRPr>
            </a:pPr>
            <a:r>
              <a:rPr sz="1092" b="1">
                <a:solidFill>
                  <a:srgbClr val="111827"/>
                </a:solidFill>
              </a:rPr>
              <a:t>7</a:t>
            </a:r>
          </a:p>
          <a:p xmlns:a="http://schemas.openxmlformats.org/drawingml/2006/main">
            <a:pPr algn="ctr">
              <a:defRPr sz="1092" b="1">
                <a:solidFill>
                  <a:srgbClr val="111827"/>
                </a:solidFill>
              </a:defRPr>
            </a:pPr>
            <a:r>
              <a:rPr sz="1092" b="1">
                <a:solidFill>
                  <a:srgbClr val="111827"/>
                </a:solidFill>
              </a:rPr>
              <a:t>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AACC69-CEDB-466A-B1A7-B396E8CB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8632" y="2154936"/>
            <a:ext cx="554736" cy="490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817"/>
          </a:solidFill>
          <a:ln xmlns:a="http://schemas.openxmlformats.org/drawingml/2006/main" w="1143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92" b="1">
                <a:solidFill>
                  <a:srgbClr val="111827"/>
                </a:solidFill>
              </a:defRPr>
            </a:pPr>
            <a:r>
              <a:rPr sz="1092" b="1">
                <a:solidFill>
                  <a:srgbClr val="111827"/>
                </a:solidFill>
              </a:rPr>
              <a:t>24</a:t>
            </a:r>
          </a:p>
          <a:p xmlns:a="http://schemas.openxmlformats.org/drawingml/2006/main">
            <a:pPr algn="ctr">
              <a:defRPr sz="1092" b="1">
                <a:solidFill>
                  <a:srgbClr val="111827"/>
                </a:solidFill>
              </a:defRPr>
            </a:pPr>
            <a:r>
              <a:rPr sz="1092" b="1">
                <a:solidFill>
                  <a:srgbClr val="111827"/>
                </a:solidFill>
              </a:rPr>
              <a:t>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9B0F19-9198-4A3B-AF8E-05780E61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532" y="2154936"/>
            <a:ext cx="554736" cy="490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817"/>
          </a:solidFill>
          <a:ln xmlns:a="http://schemas.openxmlformats.org/drawingml/2006/main" w="1143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92" b="1">
                <a:solidFill>
                  <a:srgbClr val="111827"/>
                </a:solidFill>
              </a:defRPr>
            </a:pPr>
            <a:r>
              <a:rPr sz="1092" b="1">
                <a:solidFill>
                  <a:srgbClr val="111827"/>
                </a:solidFill>
              </a:rPr>
              <a:t>32</a:t>
            </a:r>
          </a:p>
          <a:p xmlns:a="http://schemas.openxmlformats.org/drawingml/2006/main">
            <a:pPr algn="ctr">
              <a:defRPr sz="1092" b="1">
                <a:solidFill>
                  <a:srgbClr val="111827"/>
                </a:solidFill>
              </a:defRPr>
            </a:pPr>
            <a:r>
              <a:rPr sz="1092" b="1">
                <a:solidFill>
                  <a:srgbClr val="111827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EA0DD0-A09D-47F0-8F59-57B0392B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32" y="3050286"/>
            <a:ext cx="554736" cy="490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817"/>
          </a:solidFill>
          <a:ln xmlns:a="http://schemas.openxmlformats.org/drawingml/2006/main" w="1143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92" b="1">
                <a:solidFill>
                  <a:srgbClr val="111827"/>
                </a:solidFill>
              </a:defRPr>
            </a:pPr>
            <a:r>
              <a:rPr sz="1092" b="1">
                <a:solidFill>
                  <a:srgbClr val="111827"/>
                </a:solidFill>
              </a:rPr>
              <a:t>37</a:t>
            </a:r>
          </a:p>
          <a:p xmlns:a="http://schemas.openxmlformats.org/drawingml/2006/main">
            <a:pPr algn="ctr">
              <a:defRPr sz="1092" b="1">
                <a:solidFill>
                  <a:srgbClr val="111827"/>
                </a:solidFill>
              </a:defRPr>
            </a:pPr>
            <a:r>
              <a:rPr sz="1092" b="1">
                <a:solidFill>
                  <a:srgbClr val="111827"/>
                </a:solidFill>
              </a:rPr>
              <a:t>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5E41DA-F0DF-4553-9F49-A1CBE60E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732" y="3050286"/>
            <a:ext cx="554736" cy="490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817"/>
          </a:solidFill>
          <a:ln xmlns:a="http://schemas.openxmlformats.org/drawingml/2006/main" w="1143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92" b="1">
                <a:solidFill>
                  <a:srgbClr val="111827"/>
                </a:solidFill>
              </a:defRPr>
            </a:pPr>
            <a:r>
              <a:rPr sz="1092" b="1">
                <a:solidFill>
                  <a:srgbClr val="111827"/>
                </a:solidFill>
              </a:rPr>
              <a:t>42</a:t>
            </a:r>
          </a:p>
          <a:p xmlns:a="http://schemas.openxmlformats.org/drawingml/2006/main">
            <a:pPr algn="ctr">
              <a:defRPr sz="1092" b="1">
                <a:solidFill>
                  <a:srgbClr val="111827"/>
                </a:solidFill>
              </a:defRPr>
            </a:pPr>
            <a:r>
              <a:rPr sz="1092" b="1">
                <a:solidFill>
                  <a:srgbClr val="111827"/>
                </a:solidFill>
              </a:rPr>
              <a:t>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4399CB-E193-44CC-9198-F9CA49F6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8632" y="3050286"/>
            <a:ext cx="554736" cy="490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817"/>
          </a:solidFill>
          <a:ln xmlns:a="http://schemas.openxmlformats.org/drawingml/2006/main" w="1143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92" b="1">
                <a:solidFill>
                  <a:srgbClr val="111827"/>
                </a:solidFill>
              </a:defRPr>
            </a:pPr>
            <a:r>
              <a:rPr sz="1092" b="1">
                <a:solidFill>
                  <a:srgbClr val="111827"/>
                </a:solidFill>
              </a:rPr>
              <a:t>42</a:t>
            </a:r>
          </a:p>
          <a:p xmlns:a="http://schemas.openxmlformats.org/drawingml/2006/main">
            <a:pPr algn="ctr">
              <a:defRPr sz="1092" b="1">
                <a:solidFill>
                  <a:srgbClr val="111827"/>
                </a:solidFill>
              </a:defRPr>
            </a:pPr>
            <a:r>
              <a:rPr sz="1092" b="1">
                <a:solidFill>
                  <a:srgbClr val="111827"/>
                </a:solidFill>
              </a:rPr>
              <a:t>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627466-D68F-400C-AF65-D2A35783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532" y="3050286"/>
            <a:ext cx="554736" cy="490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817"/>
          </a:solidFill>
          <a:ln xmlns:a="http://schemas.openxmlformats.org/drawingml/2006/main" w="1143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92" b="1">
                <a:solidFill>
                  <a:srgbClr val="111827"/>
                </a:solidFill>
              </a:defRPr>
            </a:pPr>
            <a:r>
              <a:rPr sz="1092" b="1">
                <a:solidFill>
                  <a:srgbClr val="111827"/>
                </a:solidFill>
              </a:rPr>
              <a:t>120</a:t>
            </a:r>
          </a:p>
          <a:p xmlns:a="http://schemas.openxmlformats.org/drawingml/2006/main">
            <a:pPr algn="ctr">
              <a:defRPr sz="1092" b="1">
                <a:solidFill>
                  <a:srgbClr val="111827"/>
                </a:solidFill>
              </a:defRPr>
            </a:pPr>
            <a:r>
              <a:rPr sz="1092" b="1">
                <a:solidFill>
                  <a:srgbClr val="111827"/>
                </a:solidFill>
              </a:rPr>
              <a:t>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E5C761-58F4-438A-9CE9-50D06143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38625"/>
            <a:ext cx="25431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4B83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A7C910-3F8A-4863-BAD0-00B49CDB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3F98"/>
                </a:solidFill>
              </a:defRPr>
            </a:pPr>
            <a:r>
              <a:rPr sz="1425" b="1">
                <a:solidFill>
                  <a:srgbClr val="0B3F98"/>
                </a:solidFill>
              </a:rPr>
              <a:t>Priority queue rule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F75CEB-F0C2-4B0A-A5CB-A0B9A5A2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2143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Merge two lowest weights.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Parent weight = sum.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78D11B-0892-461C-83D0-DCF165D3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2143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parent = w1 + w2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12C262-8E97-4BFF-9601-410B5C85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162050"/>
            <a:ext cx="2809875" cy="461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3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3234BD-2444-4130-993B-80F87266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162050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15C"/>
          </a:solidFill>
          <a:ln xmlns:a="http://schemas.openxmlformats.org/drawingml/2006/main" w="0">
            <a:solidFill>
              <a:srgbClr val="1591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4F2544-C024-4B90-B4B1-E7DDE0F9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247775"/>
            <a:ext cx="2505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2. Merge until root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148CFA-340C-42D8-B0FD-CC3DD8F6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764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Each row is one merge: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3BBF70-FA4E-45E5-9A2C-7425AEE6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764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FF5"/>
          </a:solidFill>
          <a:ln xmlns:a="http://schemas.openxmlformats.org/drawingml/2006/main" w="13335">
            <a:solidFill>
              <a:srgbClr val="20B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316493-A6CF-457D-B06D-18E1A3C7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76450"/>
            <a:ext cx="1000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3335">
            <a:solidFill>
              <a:srgbClr val="C7D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</a:defRPr>
            </a:pPr>
            <a:r>
              <a:rPr sz="900" b="1">
                <a:solidFill>
                  <a:srgbClr val="111827"/>
                </a:solidFill>
              </a:rPr>
              <a:t>Z2 + K7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288EE5-A07D-479D-BDB9-4A3D00BB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14550"/>
            <a:ext cx="23812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3F98"/>
          </a:solidFill>
          <a:ln xmlns:a="http://schemas.openxmlformats.org/drawingml/2006/main" w="0">
            <a:solidFill>
              <a:srgbClr val="0B3F9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0F451C-6D91-4A7D-909C-9EB8952F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76450"/>
            <a:ext cx="495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13335">
            <a:solidFill>
              <a:srgbClr val="F28C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BF0052-98B0-47E4-A5A4-27165CFF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860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FF5"/>
          </a:solidFill>
          <a:ln xmlns:a="http://schemas.openxmlformats.org/drawingml/2006/main" w="13335">
            <a:solidFill>
              <a:srgbClr val="20B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6FDC80-B102-43D1-A395-8B71D5A1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86025"/>
            <a:ext cx="1000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3335">
            <a:solidFill>
              <a:srgbClr val="C7D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</a:defRPr>
            </a:pPr>
            <a:r>
              <a:rPr sz="900" b="1">
                <a:solidFill>
                  <a:srgbClr val="111827"/>
                </a:solidFill>
              </a:rPr>
              <a:t>9 + M24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5F8709-0A02-4FD3-AF3A-79BF4D28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24125"/>
            <a:ext cx="23812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3F98"/>
          </a:solidFill>
          <a:ln xmlns:a="http://schemas.openxmlformats.org/drawingml/2006/main" w="0">
            <a:solidFill>
              <a:srgbClr val="0B3F9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319DA1-266E-4BBA-8568-AF31465E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86025"/>
            <a:ext cx="495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13335">
            <a:solidFill>
              <a:srgbClr val="F28C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33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4E48E6-7FF0-46C2-8630-E956FF4C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956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FF5"/>
          </a:solidFill>
          <a:ln xmlns:a="http://schemas.openxmlformats.org/drawingml/2006/main" w="13335">
            <a:solidFill>
              <a:srgbClr val="20B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872B15-A34E-4A40-8AF3-27EE88D5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95600"/>
            <a:ext cx="1000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3335">
            <a:solidFill>
              <a:srgbClr val="C7D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</a:defRPr>
            </a:pPr>
            <a:r>
              <a:rPr sz="900" b="1">
                <a:solidFill>
                  <a:srgbClr val="111827"/>
                </a:solidFill>
              </a:rPr>
              <a:t>C32 + 33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6706B2-03B7-4A63-B489-F060C7A1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33700"/>
            <a:ext cx="23812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3F98"/>
          </a:solidFill>
          <a:ln xmlns:a="http://schemas.openxmlformats.org/drawingml/2006/main" w="0">
            <a:solidFill>
              <a:srgbClr val="0B3F9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305CF6-2B74-4827-875B-9868CA92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95600"/>
            <a:ext cx="495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13335">
            <a:solidFill>
              <a:srgbClr val="F28C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65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E2B7E0-A030-407F-B02D-69AECF80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051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FF5"/>
          </a:solidFill>
          <a:ln xmlns:a="http://schemas.openxmlformats.org/drawingml/2006/main" w="13335">
            <a:solidFill>
              <a:srgbClr val="20B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DB1197-E7D7-456F-B454-7F38D4E5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05175"/>
            <a:ext cx="1000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3335">
            <a:solidFill>
              <a:srgbClr val="C7D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</a:defRPr>
            </a:pPr>
            <a:r>
              <a:rPr sz="900" b="1">
                <a:solidFill>
                  <a:srgbClr val="111827"/>
                </a:solidFill>
              </a:rPr>
              <a:t>U37 + D42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0AA1BB-3ECA-4388-AD50-A91EB97F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43275"/>
            <a:ext cx="23812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3F98"/>
          </a:solidFill>
          <a:ln xmlns:a="http://schemas.openxmlformats.org/drawingml/2006/main" w="0">
            <a:solidFill>
              <a:srgbClr val="0B3F9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B5120E-8FAC-4568-A9BF-2AB23408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305175"/>
            <a:ext cx="495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13335">
            <a:solidFill>
              <a:srgbClr val="F28C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79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447D30-88D7-42E2-9DA1-DA9341A4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FF5"/>
          </a:solidFill>
          <a:ln xmlns:a="http://schemas.openxmlformats.org/drawingml/2006/main" w="13335">
            <a:solidFill>
              <a:srgbClr val="20B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AFAD1D-C3E4-48BB-9081-5387A767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1000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3335">
            <a:solidFill>
              <a:srgbClr val="C7D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</a:defRPr>
            </a:pPr>
            <a:r>
              <a:rPr sz="900" b="1">
                <a:solidFill>
                  <a:srgbClr val="111827"/>
                </a:solidFill>
              </a:rPr>
              <a:t>L42 + 65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433ADF-072C-4A0B-B341-41339C8A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52850"/>
            <a:ext cx="23812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3F98"/>
          </a:solidFill>
          <a:ln xmlns:a="http://schemas.openxmlformats.org/drawingml/2006/main" w="0">
            <a:solidFill>
              <a:srgbClr val="0B3F9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DFC32D-B466-4B69-A468-D68E56F4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714750"/>
            <a:ext cx="495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13335">
            <a:solidFill>
              <a:srgbClr val="F28C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107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BBDC5C-BB83-4B49-9803-9F8CD7A8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243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FF5"/>
          </a:solidFill>
          <a:ln xmlns:a="http://schemas.openxmlformats.org/drawingml/2006/main" w="13335">
            <a:solidFill>
              <a:srgbClr val="20B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B99EFCE-4252-4865-88D3-6BF1BAEC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24325"/>
            <a:ext cx="1000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3335">
            <a:solidFill>
              <a:srgbClr val="C7D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</a:defRPr>
            </a:pPr>
            <a:r>
              <a:rPr sz="900" b="1">
                <a:solidFill>
                  <a:srgbClr val="111827"/>
                </a:solidFill>
              </a:rPr>
              <a:t>79 + 107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D3890C-761C-4982-B1DD-D31FFEE9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62425"/>
            <a:ext cx="23812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3F98"/>
          </a:solidFill>
          <a:ln xmlns:a="http://schemas.openxmlformats.org/drawingml/2006/main" w="0">
            <a:solidFill>
              <a:srgbClr val="0B3F9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2929396-F88F-4AAD-B5BC-F48F7EC9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124325"/>
            <a:ext cx="495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13335">
            <a:solidFill>
              <a:srgbClr val="F28C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186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554FDE1-4F44-4C22-A330-5740B146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339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FF5"/>
          </a:solidFill>
          <a:ln xmlns:a="http://schemas.openxmlformats.org/drawingml/2006/main" w="13335">
            <a:solidFill>
              <a:srgbClr val="20B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BE3322C-D7F4-45B1-83D0-AC99E841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33900"/>
            <a:ext cx="1000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3335">
            <a:solidFill>
              <a:srgbClr val="C7D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</a:defRPr>
            </a:pPr>
            <a:r>
              <a:rPr sz="900" b="1">
                <a:solidFill>
                  <a:srgbClr val="111827"/>
                </a:solidFill>
              </a:rPr>
              <a:t>E120 + 186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79948E-CB7D-414E-B6B4-D8617DD3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572000"/>
            <a:ext cx="23812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3F98"/>
          </a:solidFill>
          <a:ln xmlns:a="http://schemas.openxmlformats.org/drawingml/2006/main" w="0">
            <a:solidFill>
              <a:srgbClr val="0B3F9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3FA3BB0-5A70-4983-9B0C-D94260FF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33900"/>
            <a:ext cx="495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13335">
            <a:solidFill>
              <a:srgbClr val="F28C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306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C8EBE6D-F159-4BED-B612-CF208330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00650"/>
            <a:ext cx="23526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FF5"/>
          </a:solidFill>
          <a:ln xmlns:a="http://schemas.openxmlformats.org/drawingml/2006/main" w="13335">
            <a:solidFill>
              <a:srgbClr val="20B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Stop: one root = 306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2AEF06E-348C-4107-929F-7D590B08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162050"/>
            <a:ext cx="4857750" cy="461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3E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5C4C5DB-BC73-494C-A02D-ADD10BF2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162050"/>
            <a:ext cx="485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2"/>
          </a:solidFill>
          <a:ln xmlns:a="http://schemas.openxmlformats.org/drawingml/2006/main" w="0">
            <a:solidFill>
              <a:srgbClr val="F28C2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FFE533A-AF21-4126-A398-510646D1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247775"/>
            <a:ext cx="455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3. Final tree and code_len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7B0041F-34B7-49ED-B05A-CFFBA66E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B599134-4CE2-4E57-8539-F333F763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95450"/>
            <a:ext cx="28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91B9"/>
                </a:solidFill>
              </a:defRPr>
            </a:pPr>
            <a:r>
              <a:rPr sz="825" b="0">
                <a:solidFill>
                  <a:srgbClr val="7891B9"/>
                </a:solidFill>
              </a:rPr>
              <a:t>d0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91463C6-6580-4DDC-806C-99F7952D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966A6F-A391-45F1-A192-343FF90A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66950"/>
            <a:ext cx="28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91B9"/>
                </a:solidFill>
              </a:defRPr>
            </a:pPr>
            <a:r>
              <a:rPr sz="825" b="0">
                <a:solidFill>
                  <a:srgbClr val="7891B9"/>
                </a:solidFill>
              </a:rPr>
              <a:t>d1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204263C-0DBE-40E4-B1AD-98EDE62F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81325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3BB894C-CAD4-416D-90A5-241CE8D4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67025"/>
            <a:ext cx="28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91B9"/>
                </a:solidFill>
              </a:defRPr>
            </a:pPr>
            <a:r>
              <a:rPr sz="825" b="0">
                <a:solidFill>
                  <a:srgbClr val="7891B9"/>
                </a:solidFill>
              </a:rPr>
              <a:t>d2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F149C4A-5A65-449F-BDBC-5615A502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71875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207DA97-B8FE-4974-B5E5-3D3E695E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57575"/>
            <a:ext cx="28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91B9"/>
                </a:solidFill>
              </a:defRPr>
            </a:pPr>
            <a:r>
              <a:rPr sz="825" b="0">
                <a:solidFill>
                  <a:srgbClr val="7891B9"/>
                </a:solidFill>
              </a:rPr>
              <a:t>d3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ECC322E-E978-4A4C-A70E-49DB2EA3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7195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7E46DE2-4A63-42BF-919A-72089C15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057650"/>
            <a:ext cx="28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91B9"/>
                </a:solidFill>
              </a:defRPr>
            </a:pPr>
            <a:r>
              <a:rPr sz="825" b="0">
                <a:solidFill>
                  <a:srgbClr val="7891B9"/>
                </a:solidFill>
              </a:rPr>
              <a:t>d4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631AAFE-6604-456A-A4FE-4DCF8994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625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4BDDCD7-7520-4CA2-A5CC-119EFC54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48200"/>
            <a:ext cx="28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91B9"/>
                </a:solidFill>
              </a:defRPr>
            </a:pPr>
            <a:r>
              <a:rPr sz="825" b="0">
                <a:solidFill>
                  <a:srgbClr val="7891B9"/>
                </a:solidFill>
              </a:rPr>
              <a:t>d5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A9C113A-227C-4F54-AB41-F6EF4CF1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340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F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5259049-4595-4226-827D-8270D060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219700"/>
            <a:ext cx="28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91B9"/>
                </a:solidFill>
              </a:defRPr>
            </a:pPr>
            <a:r>
              <a:rPr sz="825" b="0">
                <a:solidFill>
                  <a:srgbClr val="7891B9"/>
                </a:solidFill>
              </a:rPr>
              <a:t>d6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2664D6B-317B-47AF-BC88-ADCAE52E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09750"/>
            <a:ext cx="-1285875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827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5A95358-B4EF-473F-A56B-614A2372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09750"/>
            <a:ext cx="904875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827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A650974-470C-49F2-B0ED-A3C84094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381250"/>
            <a:ext cx="-1095375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827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47890E2-BEA5-46D2-ACDA-E2C5E3C0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381250"/>
            <a:ext cx="600075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827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F718AC3-8A4B-4AA5-8F70-611594BF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81325"/>
            <a:ext cx="-57150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827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C62D50A-DD9D-4C1E-B1FC-1F5A5917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81325"/>
            <a:ext cx="238125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827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BA3E53D-28FF-4A55-AB37-F81BA847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981325"/>
            <a:ext cx="-55245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827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143F3A9-F0D1-421F-9A9F-88CE6F2C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981325"/>
            <a:ext cx="47625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827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1E8AFBA-08B1-401D-A85B-A4623526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571875"/>
            <a:ext cx="-476250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827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D495816-59DB-4BC9-AF49-E84CC247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571875"/>
            <a:ext cx="209550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827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617E4F5-6E00-48AF-A4BD-9FAF636E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171950"/>
            <a:ext cx="-41910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827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8A3352D-F61C-49EB-8206-6390FA63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171950"/>
            <a:ext cx="9525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827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FA93ADE-5D90-4EB7-B682-16BCEA0A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762500"/>
            <a:ext cx="-32385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827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5B60343-E0D4-486F-BE53-12A09656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762500"/>
            <a:ext cx="24765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827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A9F319C-CE20-4492-9463-0B7A329F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590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827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86CAF5F-2C97-4555-9257-392DB708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7145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306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BF867F7-F748-4DB5-AA3A-3998F62E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621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827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B0AFD4E-2125-48B2-AB5A-958F2C81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86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186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2C9097C-2F82-4C5C-BBB7-8ADFA567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762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827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A2E0E80-FE39-4B2B-9D26-4346B0E7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8860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79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82885B1-1CEA-43DF-A0AD-43286222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762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827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FE995C1-16F5-42B8-85E3-FCDCA2BE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28860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107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06597BA-53C9-49FC-87E6-D6C4E69C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352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827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0D6C59D-4F19-4F6B-B68C-FDF26BC5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34766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65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41B3A36-7976-4A1E-82EC-9EEA70CC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39528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827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9DDC0F6-D71D-4D38-A2A9-F33D36D2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407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33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52A9B82-6218-43EA-AC4B-B09EB071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5434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827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D7C0EEB-95EA-46DB-AB4A-4189FF50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46672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9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F8F9A71-E0DC-4FE9-879E-7E29B9FC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2201609"/>
            <a:ext cx="406146" cy="3592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817"/>
          </a:solidFill>
          <a:ln xmlns:a="http://schemas.openxmlformats.org/drawingml/2006/main" w="1143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00" b="1">
                <a:solidFill>
                  <a:srgbClr val="111827"/>
                </a:solidFill>
              </a:defRPr>
            </a:pPr>
            <a:r>
              <a:rPr sz="800" b="1">
                <a:solidFill>
                  <a:srgbClr val="111827"/>
                </a:solidFill>
              </a:rPr>
              <a:t>120</a:t>
            </a:r>
          </a:p>
          <a:p xmlns:a="http://schemas.openxmlformats.org/drawingml/2006/main">
            <a:pPr algn="ctr">
              <a:defRPr sz="800" b="1">
                <a:solidFill>
                  <a:srgbClr val="111827"/>
                </a:solidFill>
              </a:defRPr>
            </a:pPr>
            <a:r>
              <a:rPr sz="800" b="1">
                <a:solidFill>
                  <a:srgbClr val="111827"/>
                </a:solidFill>
              </a:rPr>
              <a:t>E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AA6DD84-1741-4EC7-8130-6F3A6C9B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98992"/>
            <a:ext cx="628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3F98"/>
                </a:solidFill>
              </a:defRPr>
            </a:pPr>
            <a:r>
              <a:rPr sz="825" b="1">
                <a:solidFill>
                  <a:srgbClr val="0B3F98"/>
                </a:solidFill>
              </a:rPr>
              <a:t>len=1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209D472-451A-407C-9C07-EE249E03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414141"/>
            <a:ext cx="356616" cy="3154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817"/>
          </a:solidFill>
          <a:ln xmlns:a="http://schemas.openxmlformats.org/drawingml/2006/main" w="1143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02" b="1">
                <a:solidFill>
                  <a:srgbClr val="111827"/>
                </a:solidFill>
              </a:defRPr>
            </a:pPr>
            <a:r>
              <a:rPr sz="702" b="1">
                <a:solidFill>
                  <a:srgbClr val="111827"/>
                </a:solidFill>
              </a:rPr>
              <a:t>37</a:t>
            </a:r>
          </a:p>
          <a:p xmlns:a="http://schemas.openxmlformats.org/drawingml/2006/main">
            <a:pPr algn="ctr">
              <a:defRPr sz="702" b="1">
                <a:solidFill>
                  <a:srgbClr val="111827"/>
                </a:solidFill>
              </a:defRPr>
            </a:pPr>
            <a:r>
              <a:rPr sz="702" b="1">
                <a:solidFill>
                  <a:srgbClr val="111827"/>
                </a:solidFill>
              </a:rPr>
              <a:t>U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6038FAF-65C5-4060-9770-7D369805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767709"/>
            <a:ext cx="628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3F98"/>
                </a:solidFill>
              </a:defRPr>
            </a:pPr>
            <a:r>
              <a:rPr sz="825" b="1">
                <a:solidFill>
                  <a:srgbClr val="0B3F98"/>
                </a:solidFill>
              </a:rPr>
              <a:t>len=3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24B3E56-B86F-4107-8B27-47EC2387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817" y="3414141"/>
            <a:ext cx="356616" cy="3154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817"/>
          </a:solidFill>
          <a:ln xmlns:a="http://schemas.openxmlformats.org/drawingml/2006/main" w="1143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02" b="1">
                <a:solidFill>
                  <a:srgbClr val="111827"/>
                </a:solidFill>
              </a:defRPr>
            </a:pPr>
            <a:r>
              <a:rPr sz="702" b="1">
                <a:solidFill>
                  <a:srgbClr val="111827"/>
                </a:solidFill>
              </a:rPr>
              <a:t>42</a:t>
            </a:r>
          </a:p>
          <a:p xmlns:a="http://schemas.openxmlformats.org/drawingml/2006/main">
            <a:pPr algn="ctr">
              <a:defRPr sz="702" b="1">
                <a:solidFill>
                  <a:srgbClr val="111827"/>
                </a:solidFill>
              </a:defRPr>
            </a:pPr>
            <a:r>
              <a:rPr sz="702" b="1">
                <a:solidFill>
                  <a:srgbClr val="111827"/>
                </a:solidFill>
              </a:rPr>
              <a:t>D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621AD82-428F-443A-B77E-32909FD3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67709"/>
            <a:ext cx="628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3F98"/>
                </a:solidFill>
              </a:defRPr>
            </a:pPr>
            <a:r>
              <a:rPr sz="825" b="1">
                <a:solidFill>
                  <a:srgbClr val="0B3F98"/>
                </a:solidFill>
              </a:rPr>
              <a:t>len=3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451B31B-FBD7-4759-AF2D-862E7E33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8692" y="3414141"/>
            <a:ext cx="356616" cy="3154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817"/>
          </a:solidFill>
          <a:ln xmlns:a="http://schemas.openxmlformats.org/drawingml/2006/main" w="1143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02" b="1">
                <a:solidFill>
                  <a:srgbClr val="111827"/>
                </a:solidFill>
              </a:defRPr>
            </a:pPr>
            <a:r>
              <a:rPr sz="702" b="1">
                <a:solidFill>
                  <a:srgbClr val="111827"/>
                </a:solidFill>
              </a:rPr>
              <a:t>42</a:t>
            </a:r>
          </a:p>
          <a:p xmlns:a="http://schemas.openxmlformats.org/drawingml/2006/main">
            <a:pPr algn="ctr">
              <a:defRPr sz="702" b="1">
                <a:solidFill>
                  <a:srgbClr val="111827"/>
                </a:solidFill>
              </a:defRPr>
            </a:pPr>
            <a:r>
              <a:rPr sz="702" b="1">
                <a:solidFill>
                  <a:srgbClr val="111827"/>
                </a:solidFill>
              </a:rPr>
              <a:t>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8EDFA9F-1325-46DD-8DDE-C3E787EB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767709"/>
            <a:ext cx="628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3F98"/>
                </a:solidFill>
              </a:defRPr>
            </a:pPr>
            <a:r>
              <a:rPr sz="825" b="1">
                <a:solidFill>
                  <a:srgbClr val="0B3F98"/>
                </a:solidFill>
              </a:rPr>
              <a:t>len=3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A1960E7-17F3-4D76-A4C5-A88B5D57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048" y="4022979"/>
            <a:ext cx="336804" cy="297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817"/>
          </a:solidFill>
          <a:ln xmlns:a="http://schemas.openxmlformats.org/drawingml/2006/main" w="1143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3" b="1">
                <a:solidFill>
                  <a:srgbClr val="111827"/>
                </a:solidFill>
              </a:defRPr>
            </a:pPr>
            <a:r>
              <a:rPr sz="663" b="1">
                <a:solidFill>
                  <a:srgbClr val="111827"/>
                </a:solidFill>
              </a:rPr>
              <a:t>32</a:t>
            </a:r>
          </a:p>
          <a:p xmlns:a="http://schemas.openxmlformats.org/drawingml/2006/main">
            <a:pPr algn="ctr">
              <a:defRPr sz="663" b="1">
                <a:solidFill>
                  <a:srgbClr val="111827"/>
                </a:solidFill>
              </a:defRPr>
            </a:pPr>
            <a:r>
              <a:rPr sz="663" b="1">
                <a:solidFill>
                  <a:srgbClr val="111827"/>
                </a:solidFill>
              </a:rPr>
              <a:t>C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DEEFCA2-E213-400D-AF4E-78380A8C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359021"/>
            <a:ext cx="628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3F98"/>
                </a:solidFill>
              </a:defRPr>
            </a:pPr>
            <a:r>
              <a:rPr sz="825" b="1">
                <a:solidFill>
                  <a:srgbClr val="0B3F98"/>
                </a:solidFill>
              </a:rPr>
              <a:t>len=4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EB7AA57-58E3-4BCB-85AD-7E57E5C3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2004" y="4622292"/>
            <a:ext cx="316992" cy="2804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817"/>
          </a:solidFill>
          <a:ln xmlns:a="http://schemas.openxmlformats.org/drawingml/2006/main" w="1143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24" b="1">
                <a:solidFill>
                  <a:srgbClr val="111827"/>
                </a:solidFill>
              </a:defRPr>
            </a:pPr>
            <a:r>
              <a:rPr sz="624" b="1">
                <a:solidFill>
                  <a:srgbClr val="111827"/>
                </a:solidFill>
              </a:rPr>
              <a:t>24</a:t>
            </a:r>
          </a:p>
          <a:p xmlns:a="http://schemas.openxmlformats.org/drawingml/2006/main">
            <a:pPr algn="ctr">
              <a:defRPr sz="624" b="1">
                <a:solidFill>
                  <a:srgbClr val="111827"/>
                </a:solidFill>
              </a:defRPr>
            </a:pPr>
            <a:r>
              <a:rPr sz="624" b="1">
                <a:solidFill>
                  <a:srgbClr val="111827"/>
                </a:solidFill>
              </a:rPr>
              <a:t>M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9EFC6AF-C554-48A2-91D5-3BF29CFE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4940808"/>
            <a:ext cx="628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3F98"/>
                </a:solidFill>
              </a:defRPr>
            </a:pPr>
            <a:r>
              <a:rPr sz="825" b="1">
                <a:solidFill>
                  <a:srgbClr val="0B3F98"/>
                </a:solidFill>
              </a:rPr>
              <a:t>len=5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B96CD7D-A0BF-47FA-9DBB-CF3632A3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3710" y="5202555"/>
            <a:ext cx="297180" cy="262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817"/>
          </a:solidFill>
          <a:ln xmlns:a="http://schemas.openxmlformats.org/drawingml/2006/main" w="1143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111827"/>
                </a:solidFill>
              </a:defRPr>
            </a:pPr>
            <a:r>
              <a:rPr sz="585" b="1">
                <a:solidFill>
                  <a:srgbClr val="111827"/>
                </a:solidFill>
              </a:rPr>
              <a:t>2</a:t>
            </a:r>
          </a:p>
          <a:p xmlns:a="http://schemas.openxmlformats.org/drawingml/2006/main">
            <a:pPr algn="ctr">
              <a:defRPr sz="585" b="1">
                <a:solidFill>
                  <a:srgbClr val="111827"/>
                </a:solidFill>
              </a:defRPr>
            </a:pPr>
            <a:r>
              <a:rPr sz="585" b="1">
                <a:solidFill>
                  <a:srgbClr val="111827"/>
                </a:solidFill>
              </a:rPr>
              <a:t>Z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E43C824-B41E-4833-91C4-B37E4C6C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5503545"/>
            <a:ext cx="628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3F98"/>
                </a:solidFill>
              </a:defRPr>
            </a:pPr>
            <a:r>
              <a:rPr sz="825" b="1">
                <a:solidFill>
                  <a:srgbClr val="0B3F98"/>
                </a:solidFill>
              </a:rPr>
              <a:t>len=6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E0DD717-A249-4F66-9A2A-8DBEDB7C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5210" y="5202555"/>
            <a:ext cx="297180" cy="262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817"/>
          </a:solidFill>
          <a:ln xmlns:a="http://schemas.openxmlformats.org/drawingml/2006/main" w="1143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111827"/>
                </a:solidFill>
              </a:defRPr>
            </a:pPr>
            <a:r>
              <a:rPr sz="585" b="1">
                <a:solidFill>
                  <a:srgbClr val="111827"/>
                </a:solidFill>
              </a:rPr>
              <a:t>7</a:t>
            </a:r>
          </a:p>
          <a:p xmlns:a="http://schemas.openxmlformats.org/drawingml/2006/main">
            <a:pPr algn="ctr">
              <a:defRPr sz="585" b="1">
                <a:solidFill>
                  <a:srgbClr val="111827"/>
                </a:solidFill>
              </a:defRPr>
            </a:pPr>
            <a:r>
              <a:rPr sz="585" b="1">
                <a:solidFill>
                  <a:srgbClr val="111827"/>
                </a:solidFill>
              </a:rPr>
              <a:t>K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530EA02-79A1-4678-9B41-1E6EBFAD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5503545"/>
            <a:ext cx="628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3F98"/>
                </a:solidFill>
              </a:defRPr>
            </a:pPr>
            <a:r>
              <a:rPr sz="825" b="1">
                <a:solidFill>
                  <a:srgbClr val="0B3F98"/>
                </a:solidFill>
              </a:rPr>
              <a:t>len=6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CFD5FFE-06F4-4A82-BAC1-8609D823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524500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13335">
            <a:solidFill>
              <a:srgbClr val="F28C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</a:defRPr>
            </a:pPr>
            <a:r>
              <a:rPr sz="975" b="1">
                <a:solidFill>
                  <a:srgbClr val="111827"/>
                </a:solidFill>
              </a:rPr>
              <a:t>code_len = leaf depth: E=1, U/D/L=3, C=4, M=5, Z/K=6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1A4B68C-6B61-4ADF-9C2B-234E5459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962650"/>
            <a:ext cx="1085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3B7CF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C424896-61E8-445C-BC32-9C8A8107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38850"/>
            <a:ext cx="10525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3F98"/>
                </a:solidFill>
              </a:defRPr>
            </a:pPr>
            <a:r>
              <a:rPr sz="1275" b="1">
                <a:solidFill>
                  <a:srgbClr val="0B3F98"/>
                </a:solidFill>
              </a:rPr>
              <a:t>TX output from this stage is code_len for each symbol; the tree shape itself is not stored in the compressed block.</a:t>
            </a:r>
          </a:p>
        </p:txBody>
      </p:sp>
    </p:spTree>
    <p:extLst>
      <p:ext uri="{BB962C8B-B14F-4D97-AF65-F5344CB8AC3E}">
        <p14:creationId xmlns:p14="http://schemas.microsoft.com/office/powerpoint/2010/main" val="9875330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FC88D5-2375-4746-9CD4-97D97023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3F98"/>
                </a:solidFill>
              </a:defRPr>
            </a:pPr>
            <a:r>
              <a:rPr sz="2700" b="1">
                <a:solidFill>
                  <a:srgbClr val="0B3F98"/>
                </a:solidFill>
              </a:rPr>
              <a:t>TX Canonical Huffman Encoding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F58F8D-62E5-4EDA-BDFE-CE1CA566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Tree depth gives code_len. TX sorts symbols and assigns deterministic canonical codes.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F0C08-BAB3-4AC5-AE9C-4B84CD52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F98"/>
          </a:solidFill>
          <a:ln xmlns:a="http://schemas.openxmlformats.org/drawingml/2006/main" w="0">
            <a:solidFill>
              <a:srgbClr val="0B3F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60A7D-77E8-4111-B67D-D5E56E64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162050"/>
            <a:ext cx="2714625" cy="461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3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C0ED6-D22B-4FA4-BE58-588A65DC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162050"/>
            <a:ext cx="2714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F98"/>
          </a:solidFill>
          <a:ln xmlns:a="http://schemas.openxmlformats.org/drawingml/2006/main" w="0">
            <a:solidFill>
              <a:srgbClr val="0B3F9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F598F-E860-4485-AC06-839D7A2D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2409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1. Read tree depth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41522-0D83-4D2A-B43D-CEFB7180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145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code_len = tree depth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2FE27-0526-43B2-A6D3-46B26667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2095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3335">
            <a:solidFill>
              <a:srgbClr val="C7D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symbol   depth   len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E        1       1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U        3       3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D        3       3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L        3       3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C        4       4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M        5       5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Z        6       6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K        6      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655A63-D403-45A3-8AFF-53B434E5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24425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3335">
            <a:solidFill>
              <a:srgbClr val="4B8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code_len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2A821-56FC-4D3C-865A-00E4A952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190875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3F98"/>
          </a:solidFill>
          <a:ln xmlns:a="http://schemas.openxmlformats.org/drawingml/2006/main" w="0">
            <a:solidFill>
              <a:srgbClr val="0B3F9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7EBA6C-A9CD-4350-98E0-91547CEF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162050"/>
            <a:ext cx="2000250" cy="461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3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F01F62-DF06-401F-84F3-1C21E76E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1620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15C"/>
          </a:solidFill>
          <a:ln xmlns:a="http://schemas.openxmlformats.org/drawingml/2006/main" w="0">
            <a:solidFill>
              <a:srgbClr val="1591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9DBE12-2F35-4057-9C57-E279EDEC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247775"/>
            <a:ext cx="1695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2. Sort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B62BE3-8F3B-48D3-8211-164189F8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752600"/>
            <a:ext cx="1657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Canonical order: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BED1F4-DC3E-4277-B566-2F412FFB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057400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shorter code_len first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same length: ASCII first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4FA1D8-F60F-4C6F-BB12-2EF5DA1E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28925"/>
            <a:ext cx="10668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FF5"/>
          </a:solidFill>
          <a:ln xmlns:a="http://schemas.openxmlformats.org/drawingml/2006/main" w="13335">
            <a:solidFill>
              <a:srgbClr val="20B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Order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L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U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K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7B4C91-20B2-4FAE-B42C-0C956CB8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2578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3335">
            <a:solidFill>
              <a:srgbClr val="C7D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len=3: D &lt; L &lt; 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2ED3D6-C40A-47FF-86B0-42F25B0B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90875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3F98"/>
          </a:solidFill>
          <a:ln xmlns:a="http://schemas.openxmlformats.org/drawingml/2006/main" w="0">
            <a:solidFill>
              <a:srgbClr val="0B3F9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8BFF70-C3D0-4062-A56C-214725B8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162050"/>
            <a:ext cx="2524125" cy="461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3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0B63E6-84C0-4DB6-B8B0-5A5612C9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162050"/>
            <a:ext cx="2524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2"/>
          </a:solidFill>
          <a:ln xmlns:a="http://schemas.openxmlformats.org/drawingml/2006/main" w="0">
            <a:solidFill>
              <a:srgbClr val="F28C2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0C3EBB-FAD0-45D0-B7EA-C77903A9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247775"/>
            <a:ext cx="2219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3. Assign code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077FA6-4963-4FB4-B7DF-D11D60BE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714500"/>
            <a:ext cx="21812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Start: current_code = 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0D93C3-84CC-40D4-B7F9-35900429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145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9B"/>
          </a:solidFill>
          <a:ln xmlns:a="http://schemas.openxmlformats.org/drawingml/2006/main" w="13335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len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967729-9E4B-4D04-B4D4-EBB4CA38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1455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9B"/>
          </a:solidFill>
          <a:ln xmlns:a="http://schemas.openxmlformats.org/drawingml/2006/main" w="13335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assigned code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14EBB1-9DBC-4B8E-A9BA-174EFA94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0030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13335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1612D4-4296-4730-8C4D-F7EFE1AF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00300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13335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E = 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C1BDBA-A8DA-41E6-BF98-41F530EC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00350"/>
            <a:ext cx="495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D0C406-5DAF-4296-B593-27C5BEE9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00350"/>
            <a:ext cx="1600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no symbol; shift left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BDFCEC-2B94-4603-BCE4-B7C248E1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57550"/>
            <a:ext cx="495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13335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C48CFC-C8A6-4FA7-BE31-B1886EBF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57550"/>
            <a:ext cx="1600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13335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D = 100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L = 101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U = 110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84E0D3-9628-400C-A199-4E5C1423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609D6B-2F79-478E-9EA3-D02462B9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00500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C = 1110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96B5E1-240F-448C-B719-00C704AB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0055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13335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0A2D31-68C8-42E7-A70C-E92EB410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00550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13335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M = 11110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6D54FA-6489-4568-858D-AE0DA00B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00600"/>
            <a:ext cx="495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A3CEF0-CCA1-4255-AE58-AB24122E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00600"/>
            <a:ext cx="1600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K = 111110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Z = 111111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3437BD-2F3C-45FF-B995-957D43F1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90875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3F98"/>
          </a:solidFill>
          <a:ln xmlns:a="http://schemas.openxmlformats.org/drawingml/2006/main" w="0">
            <a:solidFill>
              <a:srgbClr val="0B3F9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F52A6B-138A-4A62-BBDD-279B0B3F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162050"/>
            <a:ext cx="2714625" cy="461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3E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EA4B09-58D9-42F7-BE1E-776B53E2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162050"/>
            <a:ext cx="2714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7D8"/>
          </a:solidFill>
          <a:ln xmlns:a="http://schemas.openxmlformats.org/drawingml/2006/main" w="0">
            <a:solidFill>
              <a:srgbClr val="7137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CEFE46-0B4D-4A1F-B305-446968FA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247775"/>
            <a:ext cx="2409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4. TX tables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B21941-65F2-4585-82CE-447BEC4A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145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Header: codebook info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639403C-1A46-4FC1-BBA5-05AEE7EF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038350"/>
            <a:ext cx="2114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FF"/>
          </a:solidFill>
          <a:ln xmlns:a="http://schemas.openxmlformats.org/drawingml/2006/main" w="13335">
            <a:solidFill>
              <a:srgbClr val="8A55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E:1    D:3    L:3    U:3</a:t>
            </a:r>
          </a:p>
          <a:p xmlns:a="http://schemas.openxmlformats.org/drawingml/2006/main">
            <a:pPr algn="ctr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C:4    M:5    K:6    Z:6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EFDF9B-7A5A-4BFE-91EC-250D8612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1467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Payload: canonical codes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6272447-7AD8-480E-ACCA-DDF524AF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448050"/>
            <a:ext cx="21145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3335">
            <a:solidFill>
              <a:srgbClr val="3B7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E = 0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D = 100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L = 101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U = 110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C = 1110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M = 11110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K = 111110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Z = 111111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1681AF-5AE8-4519-99FC-1817DCE0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962650"/>
            <a:ext cx="1085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3B7C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49E3C97-0E7C-4F2F-8D34-9A6FF79D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38850"/>
            <a:ext cx="10525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3F98"/>
                </a:solidFill>
              </a:defRPr>
            </a:pPr>
            <a:r>
              <a:rPr sz="1275" b="1">
                <a:solidFill>
                  <a:srgbClr val="0B3F98"/>
                </a:solidFill>
              </a:rPr>
              <a:t>TX output: header carries codebook information; payload carries compressed bits encoded with canonical codes.</a:t>
            </a:r>
          </a:p>
        </p:txBody>
      </p:sp>
    </p:spTree>
    <p:extLst>
      <p:ext uri="{BB962C8B-B14F-4D97-AF65-F5344CB8AC3E}">
        <p14:creationId xmlns:p14="http://schemas.microsoft.com/office/powerpoint/2010/main" val="6620475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DD0379-F8DE-4CAB-A54F-2DF34926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3F98"/>
                </a:solidFill>
              </a:defRPr>
            </a:pPr>
            <a:r>
              <a:rPr sz="2700" b="1">
                <a:solidFill>
                  <a:srgbClr val="0B3F98"/>
                </a:solidFill>
              </a:rPr>
              <a:t>RX Canonical Huffman Reconstruction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EDB41-8FE5-4B57-82B0-A0F12659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RX reads only symbol + code length from the header, then rebuilds the same canonical code table as TX.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7F3DE-BF67-4554-925B-39BD03A0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F98"/>
          </a:solidFill>
          <a:ln xmlns:a="http://schemas.openxmlformats.org/drawingml/2006/main" w="0">
            <a:solidFill>
              <a:srgbClr val="0B3F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CE0AA-3D8D-42BD-8397-2B565029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162050"/>
            <a:ext cx="2714625" cy="461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3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CA69A-0D96-4CB8-9312-E628B9E7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162050"/>
            <a:ext cx="2714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F98"/>
          </a:solidFill>
          <a:ln xmlns:a="http://schemas.openxmlformats.org/drawingml/2006/main" w="0">
            <a:solidFill>
              <a:srgbClr val="0B3F9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9369F-F995-4F01-90E2-09B8630A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2409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1. Read header entries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D0EB6C-4685-4875-A136-76356CE9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145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Header carries codebook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information: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374040-52CD-4632-8629-8C281351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20764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3335">
            <a:solidFill>
              <a:srgbClr val="C7D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symbol   code_len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    1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    3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L    3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    3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    4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    5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K    6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Z   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45FC76-F3DB-4E1B-B03A-6D1583E1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24425"/>
            <a:ext cx="2076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3335">
            <a:solidFill>
              <a:srgbClr val="4B8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No original tree stored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2FCDE-AEB3-4987-B329-9BD5E039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190875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3F98"/>
          </a:solidFill>
          <a:ln xmlns:a="http://schemas.openxmlformats.org/drawingml/2006/main" w="0">
            <a:solidFill>
              <a:srgbClr val="0B3F9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CB4B5-515A-4461-A146-DFE1788D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162050"/>
            <a:ext cx="2000250" cy="461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3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C7F539-0953-4522-BA58-41555551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1620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15C"/>
          </a:solidFill>
          <a:ln xmlns:a="http://schemas.openxmlformats.org/drawingml/2006/main" w="0">
            <a:solidFill>
              <a:srgbClr val="1591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552CBE-817F-4F58-B14D-BA65AF0E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247775"/>
            <a:ext cx="1695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2. Sort entries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F6ACDC-F074-4F69-B2A5-EEA77677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752600"/>
            <a:ext cx="1657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Canonical order: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4960D7-4114-4768-B7B0-D4AEC8A0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057400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shorter code_len first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same length: ASCII first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C5C45A-51AE-427D-AC13-EA7608CA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28925"/>
            <a:ext cx="10668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FF5"/>
          </a:solidFill>
          <a:ln xmlns:a="http://schemas.openxmlformats.org/drawingml/2006/main" w="13335">
            <a:solidFill>
              <a:srgbClr val="20B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Order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L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U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K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80063A-F241-42AE-A5DF-E612609E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2578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3335">
            <a:solidFill>
              <a:srgbClr val="C7D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</a:defRPr>
            </a:pPr>
            <a:r>
              <a:rPr sz="975" b="0">
                <a:solidFill>
                  <a:srgbClr val="111827"/>
                </a:solidFill>
              </a:rPr>
              <a:t>len=3: D &lt; L &lt; 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6685-8420-4C66-8865-F88E8DC2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90875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3F98"/>
          </a:solidFill>
          <a:ln xmlns:a="http://schemas.openxmlformats.org/drawingml/2006/main" w="0">
            <a:solidFill>
              <a:srgbClr val="0B3F9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BF7702-A1BC-4632-A640-F3D0A19A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162050"/>
            <a:ext cx="2524125" cy="461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3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1893E9-8D90-46E3-84CB-0FC38597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162050"/>
            <a:ext cx="2524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2"/>
          </a:solidFill>
          <a:ln xmlns:a="http://schemas.openxmlformats.org/drawingml/2006/main" w="0">
            <a:solidFill>
              <a:srgbClr val="F28C2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B16CC5-4ECA-4B1C-84CF-31D02A0A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247775"/>
            <a:ext cx="2219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3. Recreate codes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732FEB-4A48-43BC-9289-0B0411D6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714500"/>
            <a:ext cx="21812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Start with current_code = 0.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A18A33-79EF-47C8-9194-5D397228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145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9B"/>
          </a:solidFill>
          <a:ln xmlns:a="http://schemas.openxmlformats.org/drawingml/2006/main" w="13335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len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3546A5-C663-416E-8B49-CAD40A1C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14550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9B"/>
          </a:solidFill>
          <a:ln xmlns:a="http://schemas.openxmlformats.org/drawingml/2006/main" w="13335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generated code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F7D587-B3A1-43B0-A2B6-E49815ED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0030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13335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A937E1-FD42-4CE3-907D-A03515B1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00300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13335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E = 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EB5C51-1776-4980-855F-F6458819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00350"/>
            <a:ext cx="495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C877C3-4927-4449-8F99-2354F971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00350"/>
            <a:ext cx="1600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no symbol, shift left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D05B46-C639-4187-A195-6D7182CE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57550"/>
            <a:ext cx="495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13335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07799B-56A8-45F7-835C-8FB0D0A6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57550"/>
            <a:ext cx="1600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13335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D = 100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L = 101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U = 110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FA86E6-8FD8-4C00-B930-102D0C7D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42980B-5923-473D-9572-8FB66219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00500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C = 1110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56D883-F851-4F1A-9B82-3B88430C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00550"/>
            <a:ext cx="49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13335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054329-8647-4D94-B9B2-778AAE0A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00550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13335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M = 11110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F670AE-F26C-4212-8561-1DCA91BB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00600"/>
            <a:ext cx="495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0C3F1C-7D9F-4DA7-A8A6-EA62FF5E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00600"/>
            <a:ext cx="1600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D6E1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K = 111110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Z = 111111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147104-7FDE-485E-94B1-8FF16FCD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90875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3F98"/>
          </a:solidFill>
          <a:ln xmlns:a="http://schemas.openxmlformats.org/drawingml/2006/main" w="0">
            <a:solidFill>
              <a:srgbClr val="0B3F9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60FD3A-A6C7-4823-ACAD-0194833F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162050"/>
            <a:ext cx="2714625" cy="461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3E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81E6AA-05C9-4725-8011-FD9619C3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162050"/>
            <a:ext cx="2714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7D8"/>
          </a:solidFill>
          <a:ln xmlns:a="http://schemas.openxmlformats.org/drawingml/2006/main" w="0">
            <a:solidFill>
              <a:srgbClr val="7137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81B27D-D28C-4E76-B024-3AC9974D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247775"/>
            <a:ext cx="2409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4. RX lookup table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1B81C0-711D-4611-BF67-8936058A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714500"/>
            <a:ext cx="2371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The decoder stores prefix rules: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46588C-54B1-4B5F-90B0-7A4BE0B0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114550"/>
            <a:ext cx="21145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FF"/>
          </a:solidFill>
          <a:ln xmlns:a="http://schemas.openxmlformats.org/drawingml/2006/main" w="13335">
            <a:solidFill>
              <a:srgbClr val="8A55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code    symbol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0      E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100    D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101    L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110    U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1110   C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11110  M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111110 K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111111 Z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404160-A45B-4946-B858-A999F1E3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70535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Same table as TX because the canonical rule is deterministic.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6B31BF-6376-4541-BC8E-397E69C5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962650"/>
            <a:ext cx="1085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3B7C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8C592E-0DDB-49FD-8191-B6926FF2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38850"/>
            <a:ext cx="10525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3F98"/>
                </a:solidFill>
              </a:defRPr>
            </a:pPr>
            <a:r>
              <a:rPr sz="1275" b="1">
                <a:solidFill>
                  <a:srgbClr val="0B3F98"/>
                </a:solidFill>
              </a:rPr>
              <a:t>Key idea: RX reconstructs the codebook from code_len; it does not transmit or rebuild the original Huffman tree.</a:t>
            </a:r>
          </a:p>
        </p:txBody>
      </p:sp>
    </p:spTree>
    <p:extLst>
      <p:ext uri="{BB962C8B-B14F-4D97-AF65-F5344CB8AC3E}">
        <p14:creationId xmlns:p14="http://schemas.microsoft.com/office/powerpoint/2010/main" val="11573636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206E93-606B-4892-99D3-D435EA2C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3F98"/>
                </a:solidFill>
              </a:defRPr>
            </a:pPr>
            <a:r>
              <a:rPr sz="2700" b="1">
                <a:solidFill>
                  <a:srgbClr val="0B3F98"/>
                </a:solidFill>
              </a:rPr>
              <a:t>RX Huffman Payload Decoding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D431C7-4D50-4C50-B54E-65C8AC5C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After the table is rebuilt, payload bits are consumed by prefix match until block_size output bytes are recovered.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064E4-043D-40CE-A68D-825335B8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F98"/>
          </a:solidFill>
          <a:ln xmlns:a="http://schemas.openxmlformats.org/drawingml/2006/main" w="0">
            <a:solidFill>
              <a:srgbClr val="0B3F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77DED7-5F2B-40B6-8F96-AC415104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71575"/>
            <a:ext cx="109061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3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5CF06-75D3-411F-8325-9CECB01F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71575"/>
            <a:ext cx="10906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F98"/>
          </a:solidFill>
          <a:ln xmlns:a="http://schemas.openxmlformats.org/drawingml/2006/main" w="0">
            <a:solidFill>
              <a:srgbClr val="0B3F9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FF141-AC7D-4454-8976-9CB62EE8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601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Compressed block seen by RX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7D57E-BF1B-4D8F-BE9B-7BA85C1F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F"/>
          </a:solidFill>
          <a:ln xmlns:a="http://schemas.openxmlformats.org/drawingml/2006/main" w="13335">
            <a:solidFill>
              <a:srgbClr val="3B7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mode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2b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7E6DE-B381-44B6-A6B7-9DF9B062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66875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FAE8"/>
          </a:solidFill>
          <a:ln xmlns:a="http://schemas.openxmlformats.org/drawingml/2006/main" w="13335">
            <a:solidFill>
              <a:srgbClr val="1EB9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block_size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7 bytes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D13DB4-0143-4F76-B13E-12EE980A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66875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7"/>
          </a:solidFill>
          <a:ln xmlns:a="http://schemas.openxmlformats.org/drawingml/2006/main" w="13335">
            <a:solidFill>
              <a:srgbClr val="F4A6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symbol_count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8 entries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F3F855-579F-4511-8B17-64FBACB4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66875"/>
            <a:ext cx="304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FF"/>
          </a:solidFill>
          <a:ln xmlns:a="http://schemas.openxmlformats.org/drawingml/2006/main" w="13335">
            <a:solidFill>
              <a:srgbClr val="8A55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entries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E:1 D:3 L:3 U:3 ...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9C2753-815C-468C-B291-6DD631E6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66875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13335">
            <a:solidFill>
              <a:srgbClr val="F28C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payload bits</a:t>
            </a:r>
          </a:p>
          <a:p xmlns:a="http://schemas.openxmlformats.org/drawingml/2006/main">
            <a:pPr algn="ctr"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0 0 0 100 100 101 0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B176C4-D83C-4681-ADD2-5E4DA3AB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050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89"/>
                </a:solidFill>
              </a:defRPr>
            </a:pPr>
            <a:r>
              <a:rPr sz="1125" b="0">
                <a:solidFill>
                  <a:srgbClr val="5F6F89"/>
                </a:solidFill>
              </a:rPr>
              <a:t>Header = dictionary information. Payload = actual compressed data encoded using that dictionary.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A9859E-B371-4839-8F0C-B375E9CB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9875"/>
            <a:ext cx="319087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3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ACFDE0-97BB-4F1A-9F3B-950B983A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9875"/>
            <a:ext cx="3190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15C"/>
          </a:solidFill>
          <a:ln xmlns:a="http://schemas.openxmlformats.org/drawingml/2006/main" w="0">
            <a:solidFill>
              <a:srgbClr val="1591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B74219-C940-4B1F-BC81-91AA50FF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2886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1. Match prefix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8A7E6D-83FC-474C-8E1A-98B50161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Input window: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B0E31D-B95F-46CE-970C-46AF8131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3335">
            <a:solidFill>
              <a:srgbClr val="C7D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1001010...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0B3768-08F0-4F07-B4CE-D70DA0B7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24325"/>
            <a:ext cx="342900" cy="400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F6F89"/>
          </a:solidFill>
          <a:ln xmlns:a="http://schemas.openxmlformats.org/drawingml/2006/main" w="0">
            <a:solidFill>
              <a:srgbClr val="5F6F8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051E89-1E32-44DC-BEBE-05BD9A96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FF5"/>
          </a:solidFill>
          <a:ln xmlns:a="http://schemas.openxmlformats.org/drawingml/2006/main" w="13335">
            <a:solidFill>
              <a:srgbClr val="20B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first match: 100 = 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761A13-C6A3-4323-9A2E-FA70FF2E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Consume 3 bits, then continue with the next prefix.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CF6F26-559C-436B-9D6E-E4151CCA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809875"/>
            <a:ext cx="40957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3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4DFB9D-4D3B-4113-B5D2-1C7DD964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809875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2"/>
          </a:solidFill>
          <a:ln xmlns:a="http://schemas.openxmlformats.org/drawingml/2006/main" w="0">
            <a:solidFill>
              <a:srgbClr val="F28C2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4D0E2B-DA96-4402-AC49-D003FBC7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895600"/>
            <a:ext cx="3790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2. Decode sequentially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E7BF95-C04D-4C91-8FA8-52F4F690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528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Example payload segmentation: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F47DD6-7A25-43E7-B65F-E0BAB259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714750"/>
            <a:ext cx="428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3335">
            <a:solidFill>
              <a:srgbClr val="3B7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E06F14-6A70-41F6-8CD1-A2A1DF8A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4152900"/>
            <a:ext cx="20955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F6F89"/>
          </a:solidFill>
          <a:ln xmlns:a="http://schemas.openxmlformats.org/drawingml/2006/main" w="0">
            <a:solidFill>
              <a:srgbClr val="5F6F8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0DA638-CA53-4492-90C8-5213F64A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495800"/>
            <a:ext cx="428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CFF"/>
          </a:solidFill>
          <a:ln xmlns:a="http://schemas.openxmlformats.org/drawingml/2006/main" w="13335">
            <a:solidFill>
              <a:srgbClr val="3B7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73CC95-22F2-4447-9F38-A4E0F174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714750"/>
            <a:ext cx="428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3335">
            <a:solidFill>
              <a:srgbClr val="3B7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44C6B5-C522-49C4-8727-6D6FF089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4152900"/>
            <a:ext cx="20955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F6F89"/>
          </a:solidFill>
          <a:ln xmlns:a="http://schemas.openxmlformats.org/drawingml/2006/main" w="0">
            <a:solidFill>
              <a:srgbClr val="5F6F8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BF60E9-C783-4327-A3B2-FE969383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495800"/>
            <a:ext cx="428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CFF"/>
          </a:solidFill>
          <a:ln xmlns:a="http://schemas.openxmlformats.org/drawingml/2006/main" w="13335">
            <a:solidFill>
              <a:srgbClr val="3B7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ADF0AF-BE45-4904-B121-E4A37890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14750"/>
            <a:ext cx="428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3335">
            <a:solidFill>
              <a:srgbClr val="3B7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00AF46-7A58-46BE-A04D-5DD53873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4152900"/>
            <a:ext cx="20955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F6F89"/>
          </a:solidFill>
          <a:ln xmlns:a="http://schemas.openxmlformats.org/drawingml/2006/main" w="0">
            <a:solidFill>
              <a:srgbClr val="5F6F8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42191A-2E13-4407-8239-620B0824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95800"/>
            <a:ext cx="428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CFF"/>
          </a:solidFill>
          <a:ln xmlns:a="http://schemas.openxmlformats.org/drawingml/2006/main" w="13335">
            <a:solidFill>
              <a:srgbClr val="3B7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3C7E0C-2F58-44C3-9D3D-472FF337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714750"/>
            <a:ext cx="590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FF5"/>
          </a:solidFill>
          <a:ln xmlns:a="http://schemas.openxmlformats.org/drawingml/2006/main" w="13335">
            <a:solidFill>
              <a:srgbClr val="20B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100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71E6DA-00B9-4566-9611-202F2AFA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152900"/>
            <a:ext cx="20955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F6F89"/>
          </a:solidFill>
          <a:ln xmlns:a="http://schemas.openxmlformats.org/drawingml/2006/main" w="0">
            <a:solidFill>
              <a:srgbClr val="5F6F8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87A107-BDC5-49DE-8E27-0B4F5D67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495800"/>
            <a:ext cx="590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36D"/>
          </a:solidFill>
          <a:ln xmlns:a="http://schemas.openxmlformats.org/drawingml/2006/main" w="13335">
            <a:solidFill>
              <a:srgbClr val="20B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E16BB1-192C-4035-8EDE-ECA4A6E3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714750"/>
            <a:ext cx="590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FF5"/>
          </a:solidFill>
          <a:ln xmlns:a="http://schemas.openxmlformats.org/drawingml/2006/main" w="13335">
            <a:solidFill>
              <a:srgbClr val="20B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100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6F6F49-4103-43AA-A1DC-B445ED81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152900"/>
            <a:ext cx="20955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F6F89"/>
          </a:solidFill>
          <a:ln xmlns:a="http://schemas.openxmlformats.org/drawingml/2006/main" w="0">
            <a:solidFill>
              <a:srgbClr val="5F6F8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E9C6B5-3B39-4D98-9C51-C18E1CD8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495800"/>
            <a:ext cx="590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36D"/>
          </a:solidFill>
          <a:ln xmlns:a="http://schemas.openxmlformats.org/drawingml/2006/main" w="13335">
            <a:solidFill>
              <a:srgbClr val="20B3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99E6DE-D793-4897-A849-24E09A33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14750"/>
            <a:ext cx="590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13335">
            <a:solidFill>
              <a:srgbClr val="F28C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101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3FD278-BDED-4119-96CC-2FA2C0D4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152900"/>
            <a:ext cx="20955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F6F89"/>
          </a:solidFill>
          <a:ln xmlns:a="http://schemas.openxmlformats.org/drawingml/2006/main" w="0">
            <a:solidFill>
              <a:srgbClr val="5F6F8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A0B9DE-8BD9-4E8E-B01B-F09C6254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95800"/>
            <a:ext cx="590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2"/>
          </a:solidFill>
          <a:ln xmlns:a="http://schemas.openxmlformats.org/drawingml/2006/main" w="13335">
            <a:solidFill>
              <a:srgbClr val="F28C2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923579-877F-4A1D-B451-778F92F2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714750"/>
            <a:ext cx="428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3335">
            <a:solidFill>
              <a:srgbClr val="3B7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5C497A-BC89-4405-9D61-CB0B7D8A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463" y="4152900"/>
            <a:ext cx="20955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F6F89"/>
          </a:solidFill>
          <a:ln xmlns:a="http://schemas.openxmlformats.org/drawingml/2006/main" w="0">
            <a:solidFill>
              <a:srgbClr val="5F6F8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76432C-93DE-414A-881E-FD0E2F68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495800"/>
            <a:ext cx="428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CFF"/>
          </a:solidFill>
          <a:ln xmlns:a="http://schemas.openxmlformats.org/drawingml/2006/main" w="13335">
            <a:solidFill>
              <a:srgbClr val="3B7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8C2A1C-332D-4862-BC6A-44F81BFD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2387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Repeated symbols come from repeated codewords in the payload, not from per-symbol counts in the header.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0EA220F-2322-4944-9567-42FCB07F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809875"/>
            <a:ext cx="30480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7D3E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7DC9AE-8837-40BD-B63A-75A303D3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80987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37D8"/>
          </a:solidFill>
          <a:ln xmlns:a="http://schemas.openxmlformats.org/drawingml/2006/main" w="0">
            <a:solidFill>
              <a:srgbClr val="7137D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0445BD3-A829-4110-8E4D-B1956EEE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895600"/>
            <a:ext cx="2743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3. Stop by block_size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3DACB59-DDEB-49E9-AAEC-B3817F8C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909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Recovered bytes: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BEA426D-2FC9-4330-9E37-01E04C36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86200"/>
            <a:ext cx="2095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3335">
            <a:solidFill>
              <a:srgbClr val="C7D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E E E D D L 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715F712-CFA9-4BED-9423-66D80C6A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76775"/>
            <a:ext cx="2428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3F98"/>
                </a:solidFill>
              </a:defRPr>
            </a:pPr>
            <a:r>
              <a:rPr sz="1425" b="1">
                <a:solidFill>
                  <a:srgbClr val="0B3F98"/>
                </a:solidFill>
              </a:rPr>
              <a:t>output_count = 7</a:t>
            </a:r>
          </a:p>
          <a:p xmlns:a="http://schemas.openxmlformats.org/drawingml/2006/main">
            <a:pPr algn="l">
              <a:defRPr sz="1425" b="1">
                <a:solidFill>
                  <a:srgbClr val="0B3F98"/>
                </a:solidFill>
              </a:defRPr>
            </a:pPr>
            <a:r>
              <a:rPr sz="1425" b="1">
                <a:solidFill>
                  <a:srgbClr val="0B3F98"/>
                </a:solidFill>
              </a:rPr>
              <a:t>block_size = 7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29B49B6-1299-47DD-B13C-BA1F6B77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3530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FF"/>
          </a:solidFill>
          <a:ln xmlns:a="http://schemas.openxmlformats.org/drawingml/2006/main" w="13335">
            <a:solidFill>
              <a:srgbClr val="8A55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DONE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6B90199-749C-46B0-9A4B-FDC6F8CD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962650"/>
            <a:ext cx="10858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3B7C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1736004-3D5C-4F04-81A8-959AA943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38850"/>
            <a:ext cx="10525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3F98"/>
                </a:solidFill>
              </a:defRPr>
            </a:pPr>
            <a:r>
              <a:rPr sz="1275" b="1">
                <a:solidFill>
                  <a:srgbClr val="0B3F98"/>
                </a:solidFill>
              </a:rPr>
              <a:t>Key idea: the payload carries the repeated occurrences; block_size tells RX when the original block is fully recovered.</a:t>
            </a:r>
          </a:p>
        </p:txBody>
      </p:sp>
    </p:spTree>
    <p:extLst>
      <p:ext uri="{BB962C8B-B14F-4D97-AF65-F5344CB8AC3E}">
        <p14:creationId xmlns:p14="http://schemas.microsoft.com/office/powerpoint/2010/main" val="8648621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2026-07-01T17:37:21.6710000Z</dcterms:created>
  <dcterms:modified xsi:type="dcterms:W3CDTF">2026-07-01T17:37:21.6710000Z</dcterms:modified>
</coreProperties>
</file>