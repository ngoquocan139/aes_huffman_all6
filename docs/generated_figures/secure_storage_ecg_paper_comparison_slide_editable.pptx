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d705053c1419c" /><Relationship Type="http://schemas.openxmlformats.org/officeDocument/2006/relationships/extended-properties" Target="/docProps/app.xml" Id="R62111ac5a4874603" /><Relationship Type="http://schemas.openxmlformats.org/officeDocument/2006/relationships/officeDocument" Target="/ppt/presentation.xml" Id="Rb1b709697f0741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1b7e93722244d6"/>
  </p:sldMasterIdLst>
  <p:notesMasterIdLst>
    <p:notesMasterId xmlns:r="http://schemas.openxmlformats.org/officeDocument/2006/relationships" r:id="R242d9924a8404604"/>
  </p:notesMasterIdLst>
  <p:sldIdLst>
    <p:sldId xmlns:r="http://schemas.openxmlformats.org/officeDocument/2006/relationships" id="256" r:id="Raf8a84c14e1b4c0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e195b471f43b0" /><Relationship Type="http://schemas.openxmlformats.org/officeDocument/2006/relationships/slideMaster" Target="/ppt/slideMasters/slideMaster1.xml" Id="Rbc1b7e93722244d6" /><Relationship Type="http://schemas.openxmlformats.org/officeDocument/2006/relationships/notesMaster" Target="/ppt/notesMasters/notesMaster1.xml" Id="R242d9924a8404604" /><Relationship Type="http://schemas.openxmlformats.org/officeDocument/2006/relationships/presProps" Target="/ppt/presProps.xml" Id="R3518df1869024628" /><Relationship Type="http://schemas.openxmlformats.org/officeDocument/2006/relationships/tableStyles" Target="/ppt/tableStyles.xml" Id="Rab48af0ff43b457a" /><Relationship Type="http://schemas.openxmlformats.org/officeDocument/2006/relationships/slide" Target="/ppt/slides/slide1.xml" Id="Raf8a84c14e1b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dbe02b392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deae6d8a464f79" /><Relationship Type="http://schemas.openxmlformats.org/officeDocument/2006/relationships/notesMaster" Target="/ppt/notesMasters/notesMaster1.xml" Id="Rfcd3240328e5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d633c7229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72ca1cc414eb8" /><Relationship Type="http://schemas.openxmlformats.org/officeDocument/2006/relationships/slideLayout" Target="/ppt/slideLayouts/slideLayout1.xml" Id="R7d52f234295c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2f234295c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9c109aef04e9a" /><Relationship Type="http://schemas.openxmlformats.org/officeDocument/2006/relationships/image" Target="/ppt/media/image.png" Id="R80fe8d25dc5e42e0" /><Relationship Type="http://schemas.openxmlformats.org/officeDocument/2006/relationships/notesSlide" Target="/ppt/notesSlides/notesSlide1.xml" Id="Rd6f94eb1c9b343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go-circle">
            <a:extLst xmlns:a="http://schemas.openxmlformats.org/drawingml/2006/main">
              <a:ext uri="{FF2B5EF4-FFF2-40B4-BE49-F238E27FC236}">
                <a16:creationId xmlns:a16="http://schemas.microsoft.com/office/drawing/2014/main" id="{B9939603-C3A7-4CBF-AFAC-76E0980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D9"/>
            </a:solidFill>
            <a:prstDash val="solid"/>
          </a:ln>
        </p:spPr>
      </p:sp>
      <p:sp>
        <p:nvSpPr>
          <p:cNvPr id="2" name="logo-mark">
            <a:extLst xmlns:a="http://schemas.openxmlformats.org/drawingml/2006/main">
              <a:ext uri="{FF2B5EF4-FFF2-40B4-BE49-F238E27FC236}">
                <a16:creationId xmlns:a16="http://schemas.microsoft.com/office/drawing/2014/main" id="{745C7CBB-B6B4-4664-AF70-8BED6AEF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68D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8D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logo-caption">
            <a:extLst xmlns:a="http://schemas.openxmlformats.org/drawingml/2006/main">
              <a:ext uri="{FF2B5EF4-FFF2-40B4-BE49-F238E27FC236}">
                <a16:creationId xmlns:a16="http://schemas.microsoft.com/office/drawing/2014/main" id="{AB7CB335-D056-44FD-A087-55032B0C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HCMUTE</a:t>
            </a:r>
          </a:p>
        </p:txBody>
      </p:sp>
      <p:sp>
        <p:nvSpPr>
          <p:cNvPr id="4" name="university-name">
            <a:extLst xmlns:a="http://schemas.openxmlformats.org/drawingml/2006/main">
              <a:ext uri="{FF2B5EF4-FFF2-40B4-BE49-F238E27FC236}">
                <a16:creationId xmlns:a16="http://schemas.microsoft.com/office/drawing/2014/main" id="{028A8F38-7946-42F0-95D6-58B7A9D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HO CHI MINH CITY UNIVERSITY OF TECHNOLOGY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AND EDUCATION</a:t>
            </a:r>
          </a:p>
        </p:txBody>
      </p:sp>
      <p:sp>
        <p:nvSpPr>
          <p:cNvPr id="5" name="university-subtitle">
            <a:extLst xmlns:a="http://schemas.openxmlformats.org/drawingml/2006/main">
              <a:ext uri="{FF2B5EF4-FFF2-40B4-BE49-F238E27FC236}">
                <a16:creationId xmlns:a16="http://schemas.microsoft.com/office/drawing/2014/main" id="{BCFCCCA0-A406-4F36-A5E8-2DB05D8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71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8A"/>
                </a:solidFill>
                <a:latin typeface="Arial"/>
                <a:ea typeface="Arial"/>
                <a:cs typeface="Arial"/>
              </a:rPr>
              <a:t>HCMC University of Technology and Education</a:t>
            </a:r>
          </a:p>
        </p:txBody>
      </p:sp>
      <p:sp>
        <p:nvSpPr>
          <p:cNvPr id="6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E1108CE9-7B26-46F3-B95C-4AC5D99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76375"/>
            <a:ext cx="9001125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AFF"/>
          </a:solidFill>
          <a:ln xmlns:a="http://schemas.openxmlformats.org/drawingml/2006/main" w="28575">
            <a:solidFill>
              <a:srgbClr val="10A6C8"/>
            </a:solidFill>
            <a:prstDash val="solid"/>
          </a:ln>
        </p:spPr>
        <p:txBody>
          <a:bodyPr xmlns:a="http://schemas.openxmlformats.org/drawingml/2006/main" lIns="238125" tIns="0" rIns="11430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DESIGN QUALITY EVALUATION</a:t>
            </a:r>
          </a:p>
        </p:txBody>
      </p:sp>
      <p:sp>
        <p:nvSpPr>
          <p:cNvPr id="7" name="performance-title">
            <a:extLst xmlns:a="http://schemas.openxmlformats.org/drawingml/2006/main">
              <a:ext uri="{FF2B5EF4-FFF2-40B4-BE49-F238E27FC236}">
                <a16:creationId xmlns:a16="http://schemas.microsoft.com/office/drawing/2014/main" id="{DD2C2876-05CC-418F-B1B5-6FA49CC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8" name="performance-subtitle">
            <a:extLst xmlns:a="http://schemas.openxmlformats.org/drawingml/2006/main">
              <a:ext uri="{FF2B5EF4-FFF2-40B4-BE49-F238E27FC236}">
                <a16:creationId xmlns:a16="http://schemas.microsoft.com/office/drawing/2014/main" id="{EC1EDD76-787A-4BDF-AB2D-FFA481E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Direct RTL/FPGA verification on ECG secure-storage workload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e8d25dc5e42e0"/>
          <a:stretch xmlns:a="http://schemas.openxmlformats.org/drawingml/2006/main"/>
        </p:blipFill>
        <p:spPr>
          <a:xfrm xmlns:a="http://schemas.openxmlformats.org/drawingml/2006/main">
            <a:off x="809625" y="3762375"/>
            <a:ext cx="6429375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10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B8A73F7B-530A-4883-917E-8D90675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96125"/>
            <a:ext cx="1952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1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DF7BDE8B-3617-4C73-B547-9CEBA536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19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12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291E284-7F02-446B-A013-60EFA04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5723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final ratio</a:t>
            </a:r>
          </a:p>
        </p:txBody>
      </p:sp>
      <p:sp>
        <p:nvSpPr>
          <p:cNvPr id="1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E581B30-E445-47D5-8521-E4E0CD2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096125"/>
            <a:ext cx="1952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8D6D78EA-353E-4990-ADB9-433818F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219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1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5BDDD5B-6A50-4A21-9392-21D8216A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5723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raw ECG saving</a:t>
            </a:r>
          </a:p>
        </p:txBody>
      </p:sp>
      <p:sp>
        <p:nvSpPr>
          <p:cNvPr id="16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4257D25F-E2FA-4131-8B17-D1441F8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096125"/>
            <a:ext cx="1952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7FF1DD7-F1B3-4BB1-A931-70524D61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219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310AF46B-BA49-4079-8F17-91BF52B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5723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byte match</a:t>
            </a:r>
          </a:p>
        </p:txBody>
      </p:sp>
      <p:sp>
        <p:nvSpPr>
          <p:cNvPr id="19" name="input-box">
            <a:extLst xmlns:a="http://schemas.openxmlformats.org/drawingml/2006/main">
              <a:ext uri="{FF2B5EF4-FFF2-40B4-BE49-F238E27FC236}">
                <a16:creationId xmlns:a16="http://schemas.microsoft.com/office/drawing/2014/main" id="{E98D35DC-E4F5-4993-A3FC-E88D3F8E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0"/>
            <a:ext cx="642937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2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4C970B7-F6D5-45A9-A658-38C526C0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29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Comparison input set:</a:t>
            </a:r>
          </a:p>
        </p:txBody>
      </p:sp>
      <p:sp>
        <p:nvSpPr>
          <p:cNvPr id="21" name="input-details">
            <a:extLst xmlns:a="http://schemas.openxmlformats.org/drawingml/2006/main">
              <a:ext uri="{FF2B5EF4-FFF2-40B4-BE49-F238E27FC236}">
                <a16:creationId xmlns:a16="http://schemas.microsoft.com/office/drawing/2014/main" id="{7A0509E5-317F-4463-9ECD-A0873F3C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96300"/>
            <a:ext cx="604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MIT-BIH records: 100, 106, 112, 117, 213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Raw reference: 7200 B/record = 3600 samples x 2 B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SoC input avg 3603.8 B; stored avg 2150.4 B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Paper platform: MATLAB 2018a, Win7 64-bit, i5 2nd Gen, 8 GB RAM</a:t>
            </a:r>
          </a:p>
        </p:txBody>
      </p:sp>
      <p:sp>
        <p:nvSpPr>
          <p:cNvPr id="22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0248BD44-AC57-448C-9D83-47EAFA7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Comparison with ECG Huffman + CBC-AES Paper</a:t>
            </a:r>
          </a:p>
        </p:txBody>
      </p:sp>
      <p:sp>
        <p:nvSpPr>
          <p:cNvPr id="23" name="table-head-0-surface">
            <a:extLst xmlns:a="http://schemas.openxmlformats.org/drawingml/2006/main">
              <a:ext uri="{FF2B5EF4-FFF2-40B4-BE49-F238E27FC236}">
                <a16:creationId xmlns:a16="http://schemas.microsoft.com/office/drawing/2014/main" id="{8EAB5DDA-FBDB-4CBC-B212-751D395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4" name="table-head-1-surface">
            <a:extLst xmlns:a="http://schemas.openxmlformats.org/drawingml/2006/main">
              <a:ext uri="{FF2B5EF4-FFF2-40B4-BE49-F238E27FC236}">
                <a16:creationId xmlns:a16="http://schemas.microsoft.com/office/drawing/2014/main" id="{DCF2E039-E039-4439-A560-6A61B2C7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261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ECG CBC-AES Paper [1]</a:t>
            </a:r>
          </a:p>
        </p:txBody>
      </p:sp>
      <p:sp>
        <p:nvSpPr>
          <p:cNvPr id="25" name="table-head-2-surface">
            <a:extLst xmlns:a="http://schemas.openxmlformats.org/drawingml/2006/main">
              <a:ext uri="{FF2B5EF4-FFF2-40B4-BE49-F238E27FC236}">
                <a16:creationId xmlns:a16="http://schemas.microsoft.com/office/drawing/2014/main" id="{C3163AA0-769C-43A3-8A19-E5A641AD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2575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This Work</a:t>
            </a:r>
          </a:p>
        </p:txBody>
      </p:sp>
      <p:sp>
        <p:nvSpPr>
          <p:cNvPr id="26" name="table-head-3-surface">
            <a:extLst xmlns:a="http://schemas.openxmlformats.org/drawingml/2006/main">
              <a:ext uri="{FF2B5EF4-FFF2-40B4-BE49-F238E27FC236}">
                <a16:creationId xmlns:a16="http://schemas.microsoft.com/office/drawing/2014/main" id="{C7FFD7BB-E2D9-498D-8EF6-4505F3B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32575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27" name="table-head-4-surface">
            <a:extLst xmlns:a="http://schemas.openxmlformats.org/drawingml/2006/main">
              <a:ext uri="{FF2B5EF4-FFF2-40B4-BE49-F238E27FC236}">
                <a16:creationId xmlns:a16="http://schemas.microsoft.com/office/drawing/2014/main" id="{29B73E58-2920-4098-83E7-8A76E4A1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2575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Improvement (%)</a:t>
            </a:r>
          </a:p>
        </p:txBody>
      </p:sp>
      <p:sp>
        <p:nvSpPr>
          <p:cNvPr id="28" name="table-r0-c0-surface">
            <a:extLst xmlns:a="http://schemas.openxmlformats.org/drawingml/2006/main">
              <a:ext uri="{FF2B5EF4-FFF2-40B4-BE49-F238E27FC236}">
                <a16:creationId xmlns:a16="http://schemas.microsoft.com/office/drawing/2014/main" id="{D1EA05F0-D4AD-4AA6-BEA0-CCF51A6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Compression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ratio</a:t>
            </a:r>
          </a:p>
        </p:txBody>
      </p:sp>
      <p:sp>
        <p:nvSpPr>
          <p:cNvPr id="29" name="table-r0-c1-surface">
            <a:extLst xmlns:a="http://schemas.openxmlformats.org/drawingml/2006/main">
              <a:ext uri="{FF2B5EF4-FFF2-40B4-BE49-F238E27FC236}">
                <a16:creationId xmlns:a16="http://schemas.microsoft.com/office/drawing/2014/main" id="{B67B16CF-07E2-46FF-B75B-0BAA7065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35.015%</a:t>
            </a:r>
          </a:p>
        </p:txBody>
      </p:sp>
      <p:sp>
        <p:nvSpPr>
          <p:cNvPr id="30" name="table-r0-c2-surface">
            <a:extLst xmlns:a="http://schemas.openxmlformats.org/drawingml/2006/main">
              <a:ext uri="{FF2B5EF4-FFF2-40B4-BE49-F238E27FC236}">
                <a16:creationId xmlns:a16="http://schemas.microsoft.com/office/drawing/2014/main" id="{69421C60-0D03-43FC-AA90-D9349EC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714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31" name="table-r0-c3-surface">
            <a:extLst xmlns:a="http://schemas.openxmlformats.org/drawingml/2006/main">
              <a:ext uri="{FF2B5EF4-FFF2-40B4-BE49-F238E27FC236}">
                <a16:creationId xmlns:a16="http://schemas.microsoft.com/office/drawing/2014/main" id="{2D57E74A-CDBA-45B4-8242-22700656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3714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2" name="table-r0-c4-surface">
            <a:extLst xmlns:a="http://schemas.openxmlformats.org/drawingml/2006/main">
              <a:ext uri="{FF2B5EF4-FFF2-40B4-BE49-F238E27FC236}">
                <a16:creationId xmlns:a16="http://schemas.microsoft.com/office/drawing/2014/main" id="{3C9014E1-1F2E-4654-9DA7-4F8337F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3714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+14.69%</a:t>
            </a:r>
          </a:p>
        </p:txBody>
      </p:sp>
      <p:sp>
        <p:nvSpPr>
          <p:cNvPr id="33" name="table-r1-c0-surface">
            <a:extLst xmlns:a="http://schemas.openxmlformats.org/drawingml/2006/main">
              <a:ext uri="{FF2B5EF4-FFF2-40B4-BE49-F238E27FC236}">
                <a16:creationId xmlns:a16="http://schemas.microsoft.com/office/drawing/2014/main" id="{E4B94D5C-E447-4869-B0F8-CA05F523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Space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34" name="table-r1-c1-surface">
            <a:extLst xmlns:a="http://schemas.openxmlformats.org/drawingml/2006/main">
              <a:ext uri="{FF2B5EF4-FFF2-40B4-BE49-F238E27FC236}">
                <a16:creationId xmlns:a16="http://schemas.microsoft.com/office/drawing/2014/main" id="{7638182C-D29A-4A59-A69B-41283E2F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148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64.985%</a:t>
            </a:r>
          </a:p>
        </p:txBody>
      </p:sp>
      <p:sp>
        <p:nvSpPr>
          <p:cNvPr id="35" name="table-r1-c2-surface">
            <a:extLst xmlns:a="http://schemas.openxmlformats.org/drawingml/2006/main">
              <a:ext uri="{FF2B5EF4-FFF2-40B4-BE49-F238E27FC236}">
                <a16:creationId xmlns:a16="http://schemas.microsoft.com/office/drawing/2014/main" id="{EE63487E-EDE8-4D23-88E9-2D70A2A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114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36" name="table-r1-c3-surface">
            <a:extLst xmlns:a="http://schemas.openxmlformats.org/drawingml/2006/main">
              <a:ext uri="{FF2B5EF4-FFF2-40B4-BE49-F238E27FC236}">
                <a16:creationId xmlns:a16="http://schemas.microsoft.com/office/drawing/2014/main" id="{858B2DF0-C8F4-4990-8F7F-A731D534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4114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7" name="table-r1-c4-surface">
            <a:extLst xmlns:a="http://schemas.openxmlformats.org/drawingml/2006/main">
              <a:ext uri="{FF2B5EF4-FFF2-40B4-BE49-F238E27FC236}">
                <a16:creationId xmlns:a16="http://schemas.microsoft.com/office/drawing/2014/main" id="{311AD4C6-4B82-499C-BBF1-D865497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4114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+7.92%</a:t>
            </a:r>
          </a:p>
        </p:txBody>
      </p:sp>
      <p:sp>
        <p:nvSpPr>
          <p:cNvPr id="38" name="table-r2-c0-surface">
            <a:extLst xmlns:a="http://schemas.openxmlformats.org/drawingml/2006/main">
              <a:ext uri="{FF2B5EF4-FFF2-40B4-BE49-F238E27FC236}">
                <a16:creationId xmlns:a16="http://schemas.microsoft.com/office/drawing/2014/main" id="{75017215-91AE-4F92-90CE-5622229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PRD / byte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9" name="table-r2-c1-surface">
            <a:extLst xmlns:a="http://schemas.openxmlformats.org/drawingml/2006/main">
              <a:ext uri="{FF2B5EF4-FFF2-40B4-BE49-F238E27FC236}">
                <a16:creationId xmlns:a16="http://schemas.microsoft.com/office/drawing/2014/main" id="{2130EB47-E905-4F05-8679-5C2FCC6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148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0.411</a:t>
            </a:r>
          </a:p>
        </p:txBody>
      </p:sp>
      <p:sp>
        <p:nvSpPr>
          <p:cNvPr id="40" name="table-r2-c2-surface">
            <a:extLst xmlns:a="http://schemas.openxmlformats.org/drawingml/2006/main">
              <a:ext uri="{FF2B5EF4-FFF2-40B4-BE49-F238E27FC236}">
                <a16:creationId xmlns:a16="http://schemas.microsoft.com/office/drawing/2014/main" id="{BC9E6EDE-C917-4F58-B266-49D9722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514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 mismatch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byte-exact RX</a:t>
            </a:r>
          </a:p>
        </p:txBody>
      </p:sp>
      <p:sp>
        <p:nvSpPr>
          <p:cNvPr id="41" name="table-r2-c3-surface">
            <a:extLst xmlns:a="http://schemas.openxmlformats.org/drawingml/2006/main">
              <a:ext uri="{FF2B5EF4-FFF2-40B4-BE49-F238E27FC236}">
                <a16:creationId xmlns:a16="http://schemas.microsoft.com/office/drawing/2014/main" id="{4699BC88-F3F3-411E-8D41-EA3CD3C4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4514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2" name="table-r2-c4-surface">
            <a:extLst xmlns:a="http://schemas.openxmlformats.org/drawingml/2006/main">
              <a:ext uri="{FF2B5EF4-FFF2-40B4-BE49-F238E27FC236}">
                <a16:creationId xmlns:a16="http://schemas.microsoft.com/office/drawing/2014/main" id="{04330E92-D8AC-4FDA-BA2E-6CE5422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4514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43" name="table-r3-c0-surface">
            <a:extLst xmlns:a="http://schemas.openxmlformats.org/drawingml/2006/main">
              <a:ext uri="{FF2B5EF4-FFF2-40B4-BE49-F238E27FC236}">
                <a16:creationId xmlns:a16="http://schemas.microsoft.com/office/drawing/2014/main" id="{3CD23BFB-D401-4669-AE88-82807F3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Compression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44" name="table-r3-c1-surface">
            <a:extLst xmlns:a="http://schemas.openxmlformats.org/drawingml/2006/main">
              <a:ext uri="{FF2B5EF4-FFF2-40B4-BE49-F238E27FC236}">
                <a16:creationId xmlns:a16="http://schemas.microsoft.com/office/drawing/2014/main" id="{808E3406-63EB-42C0-A750-50D2DA1C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149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~3.8641 s</a:t>
            </a:r>
          </a:p>
        </p:txBody>
      </p:sp>
      <p:sp>
        <p:nvSpPr>
          <p:cNvPr id="45" name="table-r3-c2-surface">
            <a:extLst xmlns:a="http://schemas.openxmlformats.org/drawingml/2006/main">
              <a:ext uri="{FF2B5EF4-FFF2-40B4-BE49-F238E27FC236}">
                <a16:creationId xmlns:a16="http://schemas.microsoft.com/office/drawing/2014/main" id="{F863840D-B190-4409-BF69-EA592AA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914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1.056 ms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TX comp-only</a:t>
            </a:r>
          </a:p>
        </p:txBody>
      </p:sp>
      <p:sp>
        <p:nvSpPr>
          <p:cNvPr id="46" name="table-r3-c3-surface">
            <a:extLst xmlns:a="http://schemas.openxmlformats.org/drawingml/2006/main">
              <a:ext uri="{FF2B5EF4-FFF2-40B4-BE49-F238E27FC236}">
                <a16:creationId xmlns:a16="http://schemas.microsoft.com/office/drawing/2014/main" id="{5576A72F-6C38-4FA2-90FD-780C3C4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49149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7" name="table-r3-c4-surface">
            <a:extLst xmlns:a="http://schemas.openxmlformats.org/drawingml/2006/main">
              <a:ext uri="{FF2B5EF4-FFF2-40B4-BE49-F238E27FC236}">
                <a16:creationId xmlns:a16="http://schemas.microsoft.com/office/drawing/2014/main" id="{C57213DD-4A4B-44E9-B0E8-4F0CDE2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4914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+99.97%</a:t>
            </a:r>
          </a:p>
        </p:txBody>
      </p:sp>
      <p:sp>
        <p:nvSpPr>
          <p:cNvPr id="48" name="table-r4-c0-surface">
            <a:extLst xmlns:a="http://schemas.openxmlformats.org/drawingml/2006/main">
              <a:ext uri="{FF2B5EF4-FFF2-40B4-BE49-F238E27FC236}">
                <a16:creationId xmlns:a16="http://schemas.microsoft.com/office/drawing/2014/main" id="{42959CB6-AEF2-4556-9DC9-DB5913C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Decompression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49" name="table-r4-c1-surface">
            <a:extLst xmlns:a="http://schemas.openxmlformats.org/drawingml/2006/main">
              <a:ext uri="{FF2B5EF4-FFF2-40B4-BE49-F238E27FC236}">
                <a16:creationId xmlns:a16="http://schemas.microsoft.com/office/drawing/2014/main" id="{8ACF8D18-5A71-4438-A957-9738435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~0.5818 s</a:t>
            </a:r>
          </a:p>
        </p:txBody>
      </p:sp>
      <p:sp>
        <p:nvSpPr>
          <p:cNvPr id="50" name="table-r4-c2-surface">
            <a:extLst xmlns:a="http://schemas.openxmlformats.org/drawingml/2006/main">
              <a:ext uri="{FF2B5EF4-FFF2-40B4-BE49-F238E27FC236}">
                <a16:creationId xmlns:a16="http://schemas.microsoft.com/office/drawing/2014/main" id="{A4BE68F7-7666-4912-B4CF-0C3B8AF6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314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0.483 ms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RX Huffman</a:t>
            </a:r>
          </a:p>
        </p:txBody>
      </p:sp>
      <p:sp>
        <p:nvSpPr>
          <p:cNvPr id="51" name="table-r4-c3-surface">
            <a:extLst xmlns:a="http://schemas.openxmlformats.org/drawingml/2006/main">
              <a:ext uri="{FF2B5EF4-FFF2-40B4-BE49-F238E27FC236}">
                <a16:creationId xmlns:a16="http://schemas.microsoft.com/office/drawing/2014/main" id="{239B2826-F6A4-4562-9BCE-1CC4F45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53149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2" name="table-r4-c4-surface">
            <a:extLst xmlns:a="http://schemas.openxmlformats.org/drawingml/2006/main">
              <a:ext uri="{FF2B5EF4-FFF2-40B4-BE49-F238E27FC236}">
                <a16:creationId xmlns:a16="http://schemas.microsoft.com/office/drawing/2014/main" id="{5C2F126B-829C-4276-BBEC-71962958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5314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+99.92%</a:t>
            </a:r>
          </a:p>
        </p:txBody>
      </p:sp>
      <p:sp>
        <p:nvSpPr>
          <p:cNvPr id="53" name="table-r5-c0-surface">
            <a:extLst xmlns:a="http://schemas.openxmlformats.org/drawingml/2006/main">
              <a:ext uri="{FF2B5EF4-FFF2-40B4-BE49-F238E27FC236}">
                <a16:creationId xmlns:a16="http://schemas.microsoft.com/office/drawing/2014/main" id="{C4938899-661A-4578-9195-2598E20A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Encryption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54" name="table-r5-c1-surface">
            <a:extLst xmlns:a="http://schemas.openxmlformats.org/drawingml/2006/main">
              <a:ext uri="{FF2B5EF4-FFF2-40B4-BE49-F238E27FC236}">
                <a16:creationId xmlns:a16="http://schemas.microsoft.com/office/drawing/2014/main" id="{DB63F1BD-2FB3-42FF-A4C3-44AEE09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150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~2.7106 s</a:t>
            </a:r>
          </a:p>
        </p:txBody>
      </p:sp>
      <p:sp>
        <p:nvSpPr>
          <p:cNvPr id="55" name="table-r5-c2-surface">
            <a:extLst xmlns:a="http://schemas.openxmlformats.org/drawingml/2006/main">
              <a:ext uri="{FF2B5EF4-FFF2-40B4-BE49-F238E27FC236}">
                <a16:creationId xmlns:a16="http://schemas.microsoft.com/office/drawing/2014/main" id="{50274161-762E-4EE2-8974-A6B8684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715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29.6 us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TX AES</a:t>
            </a:r>
          </a:p>
        </p:txBody>
      </p:sp>
      <p:sp>
        <p:nvSpPr>
          <p:cNvPr id="56" name="table-r5-c3-surface">
            <a:extLst xmlns:a="http://schemas.openxmlformats.org/drawingml/2006/main">
              <a:ext uri="{FF2B5EF4-FFF2-40B4-BE49-F238E27FC236}">
                <a16:creationId xmlns:a16="http://schemas.microsoft.com/office/drawing/2014/main" id="{36D0638A-3E53-408C-A8BD-46FBEB5F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7" name="table-r5-c4-surface">
            <a:extLst xmlns:a="http://schemas.openxmlformats.org/drawingml/2006/main">
              <a:ext uri="{FF2B5EF4-FFF2-40B4-BE49-F238E27FC236}">
                <a16:creationId xmlns:a16="http://schemas.microsoft.com/office/drawing/2014/main" id="{E357699D-7801-4F06-B54E-F6F21FFD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5715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+99.999%</a:t>
            </a:r>
          </a:p>
        </p:txBody>
      </p:sp>
      <p:sp>
        <p:nvSpPr>
          <p:cNvPr id="58" name="table-r6-c0-surface">
            <a:extLst xmlns:a="http://schemas.openxmlformats.org/drawingml/2006/main">
              <a:ext uri="{FF2B5EF4-FFF2-40B4-BE49-F238E27FC236}">
                <a16:creationId xmlns:a16="http://schemas.microsoft.com/office/drawing/2014/main" id="{0D737C97-B485-4C1F-A70A-DC9A244A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150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Decryption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59" name="table-r6-c1-surface">
            <a:extLst xmlns:a="http://schemas.openxmlformats.org/drawingml/2006/main">
              <a:ext uri="{FF2B5EF4-FFF2-40B4-BE49-F238E27FC236}">
                <a16:creationId xmlns:a16="http://schemas.microsoft.com/office/drawing/2014/main" id="{B8C321BD-7EC5-4813-BAA8-7382517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150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~3.0449 s</a:t>
            </a:r>
          </a:p>
        </p:txBody>
      </p:sp>
      <p:sp>
        <p:nvSpPr>
          <p:cNvPr id="60" name="table-r6-c2-surface">
            <a:extLst xmlns:a="http://schemas.openxmlformats.org/drawingml/2006/main">
              <a:ext uri="{FF2B5EF4-FFF2-40B4-BE49-F238E27FC236}">
                <a16:creationId xmlns:a16="http://schemas.microsoft.com/office/drawing/2014/main" id="{C48BF239-AC3B-4CF1-A8A1-0FD3E7F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115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69.2 us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RX AES</a:t>
            </a:r>
          </a:p>
        </p:txBody>
      </p:sp>
      <p:sp>
        <p:nvSpPr>
          <p:cNvPr id="61" name="table-r6-c3-surface">
            <a:extLst xmlns:a="http://schemas.openxmlformats.org/drawingml/2006/main">
              <a:ext uri="{FF2B5EF4-FFF2-40B4-BE49-F238E27FC236}">
                <a16:creationId xmlns:a16="http://schemas.microsoft.com/office/drawing/2014/main" id="{DA16D0BD-0116-4966-8BD1-85DC897F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115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2" name="table-r6-c4-surface">
            <a:extLst xmlns:a="http://schemas.openxmlformats.org/drawingml/2006/main">
              <a:ext uri="{FF2B5EF4-FFF2-40B4-BE49-F238E27FC236}">
                <a16:creationId xmlns:a16="http://schemas.microsoft.com/office/drawing/2014/main" id="{47D3B731-EF62-4DAD-80A0-D026409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115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+99.998%</a:t>
            </a:r>
          </a:p>
        </p:txBody>
      </p:sp>
      <p:sp>
        <p:nvSpPr>
          <p:cNvPr id="63" name="table-r7-c0-surface">
            <a:extLst xmlns:a="http://schemas.openxmlformats.org/drawingml/2006/main">
              <a:ext uri="{FF2B5EF4-FFF2-40B4-BE49-F238E27FC236}">
                <a16:creationId xmlns:a16="http://schemas.microsoft.com/office/drawing/2014/main" id="{7274864F-810B-4FD1-AE8F-AB86B95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15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Compression +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encryption</a:t>
            </a:r>
          </a:p>
        </p:txBody>
      </p:sp>
      <p:sp>
        <p:nvSpPr>
          <p:cNvPr id="64" name="table-r7-c1-surface">
            <a:extLst xmlns:a="http://schemas.openxmlformats.org/drawingml/2006/main">
              <a:ext uri="{FF2B5EF4-FFF2-40B4-BE49-F238E27FC236}">
                <a16:creationId xmlns:a16="http://schemas.microsoft.com/office/drawing/2014/main" id="{7E547E7C-3359-49BA-B67C-5A975D1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151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~6.5747 s</a:t>
            </a:r>
          </a:p>
        </p:txBody>
      </p:sp>
      <p:sp>
        <p:nvSpPr>
          <p:cNvPr id="65" name="table-r7-c2-surface">
            <a:extLst xmlns:a="http://schemas.openxmlformats.org/drawingml/2006/main">
              <a:ext uri="{FF2B5EF4-FFF2-40B4-BE49-F238E27FC236}">
                <a16:creationId xmlns:a16="http://schemas.microsoft.com/office/drawing/2014/main" id="{A805A487-7A20-491C-A025-70CC5A8E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5151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1.065 ms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TX path</a:t>
            </a:r>
          </a:p>
        </p:txBody>
      </p:sp>
      <p:sp>
        <p:nvSpPr>
          <p:cNvPr id="66" name="table-r7-c3-surface">
            <a:extLst xmlns:a="http://schemas.openxmlformats.org/drawingml/2006/main">
              <a:ext uri="{FF2B5EF4-FFF2-40B4-BE49-F238E27FC236}">
                <a16:creationId xmlns:a16="http://schemas.microsoft.com/office/drawing/2014/main" id="{E414B52F-6A9F-4871-AB09-DF4CBD62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515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7" name="table-r7-c4-surface">
            <a:extLst xmlns:a="http://schemas.openxmlformats.org/drawingml/2006/main">
              <a:ext uri="{FF2B5EF4-FFF2-40B4-BE49-F238E27FC236}">
                <a16:creationId xmlns:a16="http://schemas.microsoft.com/office/drawing/2014/main" id="{180DA34C-7569-4A92-9D47-025B706D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515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+99.98%</a:t>
            </a:r>
          </a:p>
        </p:txBody>
      </p:sp>
      <p:sp>
        <p:nvSpPr>
          <p:cNvPr id="68" name="table-r8-c0-surface">
            <a:extLst xmlns:a="http://schemas.openxmlformats.org/drawingml/2006/main">
              <a:ext uri="{FF2B5EF4-FFF2-40B4-BE49-F238E27FC236}">
                <a16:creationId xmlns:a16="http://schemas.microsoft.com/office/drawing/2014/main" id="{BEF321D5-A625-4372-984C-445A5D3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915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TX/RX cycles</a:t>
            </a:r>
          </a:p>
        </p:txBody>
      </p:sp>
      <p:sp>
        <p:nvSpPr>
          <p:cNvPr id="69" name="table-r8-c1-surface">
            <a:extLst xmlns:a="http://schemas.openxmlformats.org/drawingml/2006/main">
              <a:ext uri="{FF2B5EF4-FFF2-40B4-BE49-F238E27FC236}">
                <a16:creationId xmlns:a16="http://schemas.microsoft.com/office/drawing/2014/main" id="{2D27DC53-77CB-47AC-92D2-8F1A3ED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1515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N/R</a:t>
            </a:r>
          </a:p>
        </p:txBody>
      </p:sp>
      <p:sp>
        <p:nvSpPr>
          <p:cNvPr id="70" name="table-r8-c2-surface">
            <a:extLst xmlns:a="http://schemas.openxmlformats.org/drawingml/2006/main">
              <a:ext uri="{FF2B5EF4-FFF2-40B4-BE49-F238E27FC236}">
                <a16:creationId xmlns:a16="http://schemas.microsoft.com/office/drawing/2014/main" id="{E3D1AEF6-A518-456B-85FF-0492DBA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915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53233 TX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24222 RX</a:t>
            </a:r>
          </a:p>
        </p:txBody>
      </p:sp>
      <p:sp>
        <p:nvSpPr>
          <p:cNvPr id="71" name="table-r8-c3-surface">
            <a:extLst xmlns:a="http://schemas.openxmlformats.org/drawingml/2006/main">
              <a:ext uri="{FF2B5EF4-FFF2-40B4-BE49-F238E27FC236}">
                <a16:creationId xmlns:a16="http://schemas.microsoft.com/office/drawing/2014/main" id="{27F7C8A3-AE9B-476C-87B8-A72F4B68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9151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2" name="table-r8-c4-surface">
            <a:extLst xmlns:a="http://schemas.openxmlformats.org/drawingml/2006/main">
              <a:ext uri="{FF2B5EF4-FFF2-40B4-BE49-F238E27FC236}">
                <a16:creationId xmlns:a16="http://schemas.microsoft.com/office/drawing/2014/main" id="{C9A8A940-7E38-4226-B721-CBA3551C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915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73" name="table-r9-c0-surface">
            <a:extLst xmlns:a="http://schemas.openxmlformats.org/drawingml/2006/main">
              <a:ext uri="{FF2B5EF4-FFF2-40B4-BE49-F238E27FC236}">
                <a16:creationId xmlns:a16="http://schemas.microsoft.com/office/drawing/2014/main" id="{746D8145-4903-4E81-8916-DA81F05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3152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TX/RX throughput</a:t>
            </a:r>
          </a:p>
        </p:txBody>
      </p:sp>
      <p:sp>
        <p:nvSpPr>
          <p:cNvPr id="74" name="table-r9-c1-surface">
            <a:extLst xmlns:a="http://schemas.openxmlformats.org/drawingml/2006/main">
              <a:ext uri="{FF2B5EF4-FFF2-40B4-BE49-F238E27FC236}">
                <a16:creationId xmlns:a16="http://schemas.microsoft.com/office/drawing/2014/main" id="{7A0C2F71-550D-4E0F-A409-9C15986C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3152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N/R</a:t>
            </a:r>
          </a:p>
        </p:txBody>
      </p:sp>
      <p:sp>
        <p:nvSpPr>
          <p:cNvPr id="75" name="table-r9-c2-surface">
            <a:extLst xmlns:a="http://schemas.openxmlformats.org/drawingml/2006/main">
              <a:ext uri="{FF2B5EF4-FFF2-40B4-BE49-F238E27FC236}">
                <a16:creationId xmlns:a16="http://schemas.microsoft.com/office/drawing/2014/main" id="{D9271016-5EDE-4119-9A01-358F25A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31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6.828 MB/s TX-in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15.072 MB/s RX-out</a:t>
            </a:r>
          </a:p>
        </p:txBody>
      </p:sp>
      <p:sp>
        <p:nvSpPr>
          <p:cNvPr id="76" name="table-r9-c3-surface">
            <a:extLst xmlns:a="http://schemas.openxmlformats.org/drawingml/2006/main">
              <a:ext uri="{FF2B5EF4-FFF2-40B4-BE49-F238E27FC236}">
                <a16:creationId xmlns:a16="http://schemas.microsoft.com/office/drawing/2014/main" id="{59188FF5-61A1-4885-BC22-A4C7129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73152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7" name="table-r9-c4-surface">
            <a:extLst xmlns:a="http://schemas.openxmlformats.org/drawingml/2006/main">
              <a:ext uri="{FF2B5EF4-FFF2-40B4-BE49-F238E27FC236}">
                <a16:creationId xmlns:a16="http://schemas.microsoft.com/office/drawing/2014/main" id="{CE41D405-A31D-4A84-9D87-6E45345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7315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2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78" name="source-box">
            <a:extLst xmlns:a="http://schemas.openxmlformats.org/drawingml/2006/main">
              <a:ext uri="{FF2B5EF4-FFF2-40B4-BE49-F238E27FC236}">
                <a16:creationId xmlns:a16="http://schemas.microsoft.com/office/drawing/2014/main" id="{13586EA4-44E6-452D-AFF6-560DCDF7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48600"/>
            <a:ext cx="10429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79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0755F318-086A-43B9-A377-A3C7C9F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8020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Source:</a:t>
            </a:r>
          </a:p>
        </p:txBody>
      </p:sp>
      <p:sp>
        <p:nvSpPr>
          <p:cNvPr id="8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D5AF404-FCE2-4ADB-BF91-AEE03A6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981950"/>
            <a:ext cx="900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[1] A lossless compression and encryption mechanism for remote monitoring of ECG data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using Huffman coding and CBC-AES, FGCS 2019; simulated in MATLAB 2018a on Windows 7,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i5 2nd Gen, 8 GB RAM. N/R = not reported.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Note: ML precision is TP/(TP+FP); this slide uses byte-match correctness = matched bytes/total bytes.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125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RTL timing is measured from perf counters at 50 MHz on the five MIT-BIH records.</a:t>
            </a:r>
          </a:p>
        </p:txBody>
      </p:sp>
      <p:sp>
        <p:nvSpPr>
          <p:cNvPr id="81" name="footer-blue">
            <a:extLst xmlns:a="http://schemas.openxmlformats.org/drawingml/2006/main">
              <a:ext uri="{FF2B5EF4-FFF2-40B4-BE49-F238E27FC236}">
                <a16:creationId xmlns:a16="http://schemas.microsoft.com/office/drawing/2014/main" id="{7E9ABD19-361E-467A-A939-CB9FFDF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0"/>
            <a:ext cx="164782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068D9"/>
          </a:solidFill>
          <a:ln xmlns:a="http://schemas.openxmlformats.org/drawingml/2006/main" w="19050">
            <a:solidFill>
              <a:srgbClr val="003B91"/>
            </a:solidFill>
            <a:prstDash val="solid"/>
          </a:ln>
        </p:spPr>
      </p:sp>
      <p:sp>
        <p:nvSpPr>
          <p:cNvPr id="82" name="footer-red">
            <a:extLst xmlns:a="http://schemas.openxmlformats.org/drawingml/2006/main">
              <a:ext uri="{FF2B5EF4-FFF2-40B4-BE49-F238E27FC236}">
                <a16:creationId xmlns:a16="http://schemas.microsoft.com/office/drawing/2014/main" id="{FDD76206-9E41-425F-9D92-BF649DF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525000"/>
            <a:ext cx="857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2D3A"/>
          </a:solidFill>
          <a:ln xmlns:a="http://schemas.openxmlformats.org/drawingml/2006/main" w="19050">
            <a:solidFill>
              <a:srgbClr val="F22D3A"/>
            </a:solidFill>
            <a:prstDash val="solid"/>
          </a:ln>
        </p:spPr>
      </p:sp>
      <p:sp>
        <p:nvSpPr>
          <p:cNvPr id="8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37C05D0-2957-4701-9D4B-C587DC60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667875"/>
            <a:ext cx="1585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target: embedded secure data storage with compression, encryption, and byte-exact readback.</a:t>
            </a:r>
          </a:p>
        </p:txBody>
      </p:sp>
    </p:spTree>
    <p:extLst>
      <p:ext uri="{BB962C8B-B14F-4D97-AF65-F5344CB8AC3E}">
        <p14:creationId xmlns:p14="http://schemas.microsoft.com/office/powerpoint/2010/main" val="1257886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2026-07-02T10:43:07.3350000Z</dcterms:created>
  <dcterms:modified xsi:type="dcterms:W3CDTF">2026-07-02T10:43:07.3350000Z</dcterms:modified>
</coreProperties>
</file>