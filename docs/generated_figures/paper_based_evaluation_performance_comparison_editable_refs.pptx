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bc858171ad4a18" /><Relationship Type="http://schemas.openxmlformats.org/officeDocument/2006/relationships/extended-properties" Target="/docProps/app.xml" Id="Rf386702594f544ac" /><Relationship Type="http://schemas.openxmlformats.org/officeDocument/2006/relationships/officeDocument" Target="/ppt/presentation.xml" Id="R8214fda3d2e04d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e490edce7a43ff"/>
  </p:sldMasterIdLst>
  <p:notesMasterIdLst>
    <p:notesMasterId xmlns:r="http://schemas.openxmlformats.org/officeDocument/2006/relationships" r:id="R90582a848e5e4879"/>
  </p:notesMasterIdLst>
  <p:sldIdLst>
    <p:sldId xmlns:r="http://schemas.openxmlformats.org/officeDocument/2006/relationships" id="256" r:id="Rdb78bdf758ea462b"/>
  </p:sldIdLst>
  <p:sldSz cx="22860000" cy="14287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1169998cc049e2" /><Relationship Type="http://schemas.openxmlformats.org/officeDocument/2006/relationships/slideMaster" Target="/ppt/slideMasters/slideMaster1.xml" Id="R14e490edce7a43ff" /><Relationship Type="http://schemas.openxmlformats.org/officeDocument/2006/relationships/notesMaster" Target="/ppt/notesMasters/notesMaster1.xml" Id="R90582a848e5e4879" /><Relationship Type="http://schemas.openxmlformats.org/officeDocument/2006/relationships/presProps" Target="/ppt/presProps.xml" Id="Re692efadee9d4291" /><Relationship Type="http://schemas.openxmlformats.org/officeDocument/2006/relationships/tableStyles" Target="/ppt/tableStyles.xml" Id="R60214f7404874ae2" /><Relationship Type="http://schemas.openxmlformats.org/officeDocument/2006/relationships/slide" Target="/ppt/slides/slide1.xml" Id="Rdb78bdf758ea46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863f7b61a841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ebac157404c40" /><Relationship Type="http://schemas.openxmlformats.org/officeDocument/2006/relationships/notesMaster" Target="/ppt/notesMasters/notesMaster1.xml" Id="R6ac2fe35252448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ad6c29e8641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d8dc8b51a24097" /><Relationship Type="http://schemas.openxmlformats.org/officeDocument/2006/relationships/slideLayout" Target="/ppt/slideLayouts/slideLayout1.xml" Id="Re739beeb22514d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39beeb22514d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489232faf425d" /><Relationship Type="http://schemas.openxmlformats.org/officeDocument/2006/relationships/chart" Target="/ppt/slides/charts/chart1.xml" Id="R76f49d9714e54f22" /><Relationship Type="http://schemas.openxmlformats.org/officeDocument/2006/relationships/chart" Target="/ppt/slides/charts/chart2.xml" Id="R3d29b6dce0424b28" /><Relationship Type="http://schemas.openxmlformats.org/officeDocument/2006/relationships/chart" Target="/ppt/slides/charts/chart3.xml" Id="R7ae5fd7b5c724e98" /><Relationship Type="http://schemas.openxmlformats.org/officeDocument/2006/relationships/chart" Target="/ppt/slides/charts/chart4.xml" Id="Ra8c65a1b3fcf4493" /><Relationship Type="http://schemas.openxmlformats.org/officeDocument/2006/relationships/chart" Target="/ppt/slides/charts/chart5.xml" Id="R0db8b9fd8f504702" /><Relationship Type="http://schemas.openxmlformats.org/officeDocument/2006/relationships/chart" Target="/ppt/slides/charts/chart6.xml" Id="R03eaf19696d8479d" /><Relationship Type="http://schemas.openxmlformats.org/officeDocument/2006/relationships/chart" Target="/ppt/slides/charts/chart7.xml" Id="Rb9831e8a90314963" /><Relationship Type="http://schemas.openxmlformats.org/officeDocument/2006/relationships/notesSlide" Target="/ppt/notesSlides/notesSlide1.xml" Id="R506cd61487dd47c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827"/>
                </a:solidFill>
              </a:rPr>
              <a:t>AES Throughput at 100 MHz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0">
              <a:solidFill>
                <a:srgbClr val="111827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v>AES Throughput at 100 MHz</c:v>
          </c:tx>
          <c:spPr>
            <a:solidFill xmlns:a="http://schemas.openxmlformats.org/drawingml/2006/main">
              <a:srgbClr val="F28C28"/>
            </a:solidFill>
          </c:spPr>
          <c:dPt>
            <c:idx val="0"/>
            <c:spPr>
              <a:solidFill xmlns:a="http://schemas.openxmlformats.org/drawingml/2006/main">
                <a:srgbClr val="F28C2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7B61F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Lbls/>
          <c:cat>
            <c:strLit>
              <c:ptCount val="5"/>
              <c:pt idx="0">
                <c:v>Ours</c:v>
              </c:pt>
              <c:pt idx="1">
                <c:v>Good
low</c:v>
              </c:pt>
              <c:pt idx="2">
                <c:v>C&amp;G</c:v>
              </c:pt>
              <c:pt idx="3">
                <c:v>Rouv.</c:v>
              </c:pt>
              <c:pt idx="4">
                <c:v>OT</c:v>
              </c:pt>
            </c:strLit>
          </c:cat>
          <c:val>
            <c:numLit>
              <c:formatCode>0.0</c:formatCode>
              <c:ptCount val="5"/>
              <c:pt idx="0">
                <c:v>145.5</c:v>
              </c:pt>
              <c:pt idx="1">
                <c:v>0.4</c:v>
              </c:pt>
              <c:pt idx="2">
                <c:v>34.6</c:v>
              </c:pt>
              <c:pt idx="3">
                <c:v>36.6</c:v>
              </c:pt>
              <c:pt idx="4">
                <c:v>133.3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827"/>
                  </a:solidFill>
                </a:defRPr>
              </a:pPr>
            </a:p>
          </c:txPr>
          <c:dLblPos val="outEnd"/>
          <c:showVal val="1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827"/>
                    </a:solidFill>
                  </a:rPr>
                  <a:t>Throughput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827"/>
                  </a:solidFill>
                </a:defRPr>
              </a:pPr>
            </a:p>
          </c:txPr>
        </c:title>
        <c:numFmt formatCode="0.0"/>
        <c:majorUnit val="36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827"/>
                </a:solidFill>
              </a:rPr>
              <a:t>AES Efficiency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0">
              <a:solidFill>
                <a:srgbClr val="111827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v>AES Efficiency</c:v>
          </c:tx>
          <c:spPr>
            <a:solidFill xmlns:a="http://schemas.openxmlformats.org/drawingml/2006/main">
              <a:srgbClr val="F28C28"/>
            </a:solidFill>
          </c:spPr>
          <c:dPt>
            <c:idx val="0"/>
            <c:spPr>
              <a:solidFill xmlns:a="http://schemas.openxmlformats.org/drawingml/2006/main">
                <a:srgbClr val="F28C2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7B61F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Lbls/>
          <c:cat>
            <c:strLit>
              <c:ptCount val="5"/>
              <c:pt idx="0">
                <c:v>Ours</c:v>
              </c:pt>
              <c:pt idx="1">
                <c:v>Good
low</c:v>
              </c:pt>
              <c:pt idx="2">
                <c:v>C&amp;G</c:v>
              </c:pt>
              <c:pt idx="3">
                <c:v>Rouv.</c:v>
              </c:pt>
              <c:pt idx="4">
                <c:v>OT</c:v>
              </c:pt>
            </c:strLit>
          </c:cat>
          <c:val>
            <c:numLit>
              <c:formatCode>0.000</c:formatCode>
              <c:ptCount val="5"/>
              <c:pt idx="0">
                <c:v>1.455</c:v>
              </c:pt>
              <c:pt idx="1">
                <c:v>0.004</c:v>
              </c:pt>
              <c:pt idx="2">
                <c:v>0.346</c:v>
              </c:pt>
              <c:pt idx="3">
                <c:v>0.366</c:v>
              </c:pt>
              <c:pt idx="4">
                <c:v>1.333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827"/>
                  </a:solidFill>
                </a:defRPr>
              </a:pPr>
            </a:p>
          </c:txPr>
          <c:dLblPos val="outEnd"/>
          <c:showVal val="1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827"/>
                    </a:solidFill>
                  </a:rPr>
                  <a:t>Bytes/cycle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827"/>
                  </a:solidFill>
                </a:defRPr>
              </a:pPr>
            </a:p>
          </c:txPr>
        </c:title>
        <c:numFmt formatCode="0.00"/>
        <c:majorUnit val="0.35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827"/>
                </a:solidFill>
              </a:rPr>
              <a:t>Huffman Throughput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0">
              <a:solidFill>
                <a:srgbClr val="111827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v>Huffman Throughput</c:v>
          </c:tx>
          <c:spPr>
            <a:solidFill xmlns:a="http://schemas.openxmlformats.org/drawingml/2006/main">
              <a:srgbClr val="F28C28"/>
            </a:solidFill>
          </c:spPr>
          <c:dPt>
            <c:idx val="0"/>
            <c:spPr>
              <a:solidFill xmlns:a="http://schemas.openxmlformats.org/drawingml/2006/main">
                <a:srgbClr val="F28C2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Lbls/>
          <c:cat>
            <c:strLit>
              <c:ptCount val="4"/>
              <c:pt idx="0">
                <c:v>Ours</c:v>
              </c:pt>
              <c:pt idx="1">
                <c:v>ASAP14-L</c:v>
              </c:pt>
              <c:pt idx="2">
                <c:v>ASAP14-T</c:v>
              </c:pt>
              <c:pt idx="3">
                <c:v>Gug25</c:v>
              </c:pt>
            </c:strLit>
          </c:cat>
          <c:val>
            <c:numLit>
              <c:formatCode>0.0</c:formatCode>
              <c:ptCount val="4"/>
              <c:pt idx="0">
                <c:v>9.4</c:v>
              </c:pt>
              <c:pt idx="1">
                <c:v>2.1</c:v>
              </c:pt>
              <c:pt idx="2">
                <c:v>22.1</c:v>
              </c:pt>
              <c:pt idx="3">
                <c:v>144000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827"/>
                  </a:solidFill>
                </a:defRPr>
              </a:pPr>
            </a:p>
          </c:txPr>
          <c:dLblPos val="outEnd"/>
          <c:showVal val="1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5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827"/>
                    </a:solidFill>
                  </a:rPr>
                  <a:t>Input MB/s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827"/>
                  </a:solidFill>
                </a:defRPr>
              </a:pPr>
            </a:p>
          </c:txPr>
        </c:title>
        <c:numFmt formatCode="0"/>
        <c:majorUnit val="30000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827"/>
                </a:solidFill>
              </a:rPr>
              <a:t>Huffman Efficiency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0">
              <a:solidFill>
                <a:srgbClr val="111827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v>Huffman Efficiency</c:v>
          </c:tx>
          <c:spPr>
            <a:solidFill xmlns:a="http://schemas.openxmlformats.org/drawingml/2006/main">
              <a:srgbClr val="F28C28"/>
            </a:solidFill>
          </c:spPr>
          <c:dPt>
            <c:idx val="0"/>
            <c:spPr>
              <a:solidFill xmlns:a="http://schemas.openxmlformats.org/drawingml/2006/main">
                <a:srgbClr val="F28C2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3F7FCD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Lbls/>
          <c:cat>
            <c:strLit>
              <c:ptCount val="3"/>
              <c:pt idx="0">
                <c:v>Ours</c:v>
              </c:pt>
              <c:pt idx="1">
                <c:v>ASAP14-L</c:v>
              </c:pt>
              <c:pt idx="2">
                <c:v>ASAP14-T</c:v>
              </c:pt>
            </c:strLit>
          </c:cat>
          <c:val>
            <c:numLit>
              <c:formatCode>0.000</c:formatCode>
              <c:ptCount val="3"/>
              <c:pt idx="0">
                <c:v>0.094</c:v>
              </c:pt>
              <c:pt idx="1">
                <c:v>0.021</c:v>
              </c:pt>
              <c:pt idx="2">
                <c:v>0.221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827"/>
                  </a:solidFill>
                </a:defRPr>
              </a:pPr>
            </a:p>
          </c:txPr>
          <c:dLblPos val="outEnd"/>
          <c:showVal val="1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827"/>
                    </a:solidFill>
                  </a:rPr>
                  <a:t>Bytes/cycle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827"/>
                  </a:solidFill>
                </a:defRPr>
              </a:pPr>
            </a:p>
          </c:txPr>
        </c:title>
        <c:numFmt formatCode="0.00"/>
        <c:majorUnit val="0.05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827"/>
                </a:solidFill>
              </a:rPr>
              <a:t>Compression + Encryption Input Throughput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0">
              <a:solidFill>
                <a:srgbClr val="111827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v>Compression + Encryption Input Throughput</c:v>
          </c:tx>
          <c:spPr>
            <a:solidFill xmlns:a="http://schemas.openxmlformats.org/drawingml/2006/main">
              <a:srgbClr val="F28C28"/>
            </a:solidFill>
          </c:spPr>
          <c:dPt>
            <c:idx val="0"/>
            <c:spPr>
              <a:solidFill xmlns:a="http://schemas.openxmlformats.org/drawingml/2006/main">
                <a:srgbClr val="F28C2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D9534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Lbls/>
          <c:cat>
            <c:strLit>
              <c:ptCount val="2"/>
              <c:pt idx="0">
                <c:v>Our Design
TX</c:v>
              </c:pt>
              <c:pt idx="1">
                <c:v>FGCS20
C+E</c:v>
              </c:pt>
            </c:strLit>
          </c:cat>
          <c:val>
            <c:numLit>
              <c:formatCode>0.0000</c:formatCode>
              <c:ptCount val="2"/>
              <c:pt idx="0">
                <c:v>4.531</c:v>
              </c:pt>
              <c:pt idx="1">
                <c:v>0.0055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827"/>
                  </a:solidFill>
                </a:defRPr>
              </a:pPr>
            </a:p>
          </c:txPr>
          <c:dLblPos val="outEnd"/>
          <c:showVal val="1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827"/>
                    </a:solidFill>
                  </a:rPr>
                  <a:t>Input MB/s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827"/>
                  </a:solidFill>
                </a:defRPr>
              </a:pPr>
            </a:p>
          </c:txPr>
        </c:title>
        <c:numFmt formatCode="0.0"/>
        <c:majorUnit val="1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827"/>
                </a:solidFill>
              </a:rPr>
              <a:t>Payload Saving on 18,019 Preprocessed ECG Bytes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0">
              <a:solidFill>
                <a:srgbClr val="111827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v>Payload Saving on 18,019 Preprocessed ECG Bytes</c:v>
          </c:tx>
          <c:spPr>
            <a:solidFill xmlns:a="http://schemas.openxmlformats.org/drawingml/2006/main">
              <a:srgbClr val="F28C28"/>
            </a:solidFill>
          </c:spPr>
          <c:dPt>
            <c:idx val="0"/>
            <c:spPr>
              <a:solidFill xmlns:a="http://schemas.openxmlformats.org/drawingml/2006/main">
                <a:srgbClr val="F28C2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D9534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A9D8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2A9D8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2A9D8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Lbls/>
          <c:cat>
            <c:strLit>
              <c:ptCount val="5"/>
              <c:pt idx="0">
                <c:v>Ours</c:v>
              </c:pt>
              <c:pt idx="1">
                <c:v>IJETT24
ECG</c:v>
              </c:pt>
              <c:pt idx="2">
                <c:v>zlib-9</c:v>
              </c:pt>
              <c:pt idx="3">
                <c:v>bz2-9</c:v>
              </c:pt>
              <c:pt idx="4">
                <c:v>lzma-6</c:v>
              </c:pt>
            </c:strLit>
          </c:cat>
          <c:val>
            <c:numLit>
              <c:formatCode>0.00</c:formatCode>
              <c:ptCount val="5"/>
              <c:pt idx="0">
                <c:v>44.28</c:v>
              </c:pt>
              <c:pt idx="1">
                <c:v>42</c:v>
              </c:pt>
              <c:pt idx="2">
                <c:v>41.16</c:v>
              </c:pt>
              <c:pt idx="3">
                <c:v>42.89</c:v>
              </c:pt>
              <c:pt idx="4">
                <c:v>44.99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827"/>
                  </a:solidFill>
                </a:defRPr>
              </a:pPr>
            </a:p>
          </c:txPr>
          <c:dLblPos val="outEnd"/>
          <c:showVal val="1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46.5"/>
          <c:min val="3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827"/>
                    </a:solidFill>
                  </a:rPr>
                  <a:t>Saving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827"/>
                  </a:solidFill>
                </a:defRPr>
              </a:pPr>
            </a:p>
          </c:txPr>
        </c:title>
        <c:numFmt formatCode="0.0"/>
        <c:majorUnit val="1.7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827"/>
                </a:solidFill>
              </a:rPr>
              <a:t>Saved vs 36,000 Raw ECG Bytes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0">
              <a:solidFill>
                <a:srgbClr val="111827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v>Saved vs 36,000 Raw ECG Bytes</c:v>
          </c:tx>
          <c:spPr>
            <a:solidFill xmlns:a="http://schemas.openxmlformats.org/drawingml/2006/main">
              <a:srgbClr val="F28C28"/>
            </a:solidFill>
          </c:spPr>
          <c:dPt>
            <c:idx val="0"/>
            <c:spPr>
              <a:solidFill xmlns:a="http://schemas.openxmlformats.org/drawingml/2006/main">
                <a:srgbClr val="F28C2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D9534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A9D8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2A9D8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2A9D8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Lbls/>
          <c:cat>
            <c:strLit>
              <c:ptCount val="5"/>
              <c:pt idx="0">
                <c:v>Ours</c:v>
              </c:pt>
              <c:pt idx="1">
                <c:v>FGCS20
paper</c:v>
              </c:pt>
              <c:pt idx="2">
                <c:v>zlib-9</c:v>
              </c:pt>
              <c:pt idx="3">
                <c:v>bz2-9</c:v>
              </c:pt>
              <c:pt idx="4">
                <c:v>lzma-6</c:v>
              </c:pt>
            </c:strLit>
          </c:cat>
          <c:val>
            <c:numLit>
              <c:formatCode>0.00</c:formatCode>
              <c:ptCount val="5"/>
              <c:pt idx="0">
                <c:v>70.13</c:v>
              </c:pt>
              <c:pt idx="1">
                <c:v>64.98</c:v>
              </c:pt>
              <c:pt idx="2">
                <c:v>70.55</c:v>
              </c:pt>
              <c:pt idx="3">
                <c:v>71.41</c:v>
              </c:pt>
              <c:pt idx="4">
                <c:v>72.47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827"/>
                  </a:solidFill>
                </a:defRPr>
              </a:pPr>
            </a:p>
          </c:txPr>
          <c:dLblPos val="outEnd"/>
          <c:showVal val="1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4"/>
          <c:min val="6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827"/>
                    </a:solidFill>
                  </a:rPr>
                  <a:t>Saving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827"/>
                  </a:solidFill>
                </a:defRPr>
              </a:pPr>
            </a:p>
          </c:txPr>
        </c:title>
        <c:numFmt formatCode="0.0"/>
        <c:majorUnit val="2.4"/>
        <c:majorTickMark val="none"/>
        <c:minorTickMark val="none"/>
        <c:spPr>
          <a:ln xmlns:a="http://schemas.openxmlformats.org/drawingml/2006/main" w="9525">
            <a:solidFill>
              <a:srgbClr val="33333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k-title">
            <a:extLst xmlns:a="http://schemas.openxmlformats.org/drawingml/2006/main">
              <a:ext uri="{FF2B5EF4-FFF2-40B4-BE49-F238E27FC236}">
                <a16:creationId xmlns:a16="http://schemas.microsoft.com/office/drawing/2014/main" id="{8EB5A022-AF71-4214-97C2-32F90118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"/>
            <a:ext cx="2286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Evaluation and Performance Comparison</a:t>
            </a:r>
          </a:p>
        </p:txBody>
      </p:sp>
      <p:sp>
        <p:nvSpPr>
          <p:cNvPr id="2" name="hardware-section">
            <a:extLst xmlns:a="http://schemas.openxmlformats.org/drawingml/2006/main">
              <a:ext uri="{FF2B5EF4-FFF2-40B4-BE49-F238E27FC236}">
                <a16:creationId xmlns:a16="http://schemas.microsoft.com/office/drawing/2014/main" id="{0D801E4C-85D5-472A-B857-69ED24D3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2286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Hardware Baselines</a:t>
            </a:r>
          </a:p>
        </p:txBody>
      </p:sp>
      <p:sp>
        <p:nvSpPr>
          <p:cNvPr id="3" name="software-section">
            <a:extLst xmlns:a="http://schemas.openxmlformats.org/drawingml/2006/main">
              <a:ext uri="{FF2B5EF4-FFF2-40B4-BE49-F238E27FC236}">
                <a16:creationId xmlns:a16="http://schemas.microsoft.com/office/drawing/2014/main" id="{33B6DAE8-DEF2-48DB-ADAE-C1C910CA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2286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Software and Paper Baselines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28625" y="1428750"/>
          <a:ext xmlns:a="http://schemas.openxmlformats.org/drawingml/2006/main" cx="5334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f49d9714e54f22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48375" y="1428750"/>
          <a:ext xmlns:a="http://schemas.openxmlformats.org/drawingml/2006/main" cx="5334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29b6dce0424b28"/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11668125" y="1428750"/>
          <a:ext xmlns:a="http://schemas.openxmlformats.org/drawingml/2006/main" cx="5334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e5fd7b5c724e98"/>
          </a:graphicData>
        </a:graphic>
      </p:graphicFrame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17287875" y="1428750"/>
          <a:ext xmlns:a="http://schemas.openxmlformats.org/drawingml/2006/main" cx="5095875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c65a1b3fcf4493"/>
          </a:graphicData>
        </a:graphic>
      </p:graphicFrame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66750" y="6781800"/>
          <a:ext xmlns:a="http://schemas.openxmlformats.org/drawingml/2006/main" cx="64770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b8b9fd8f504702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7524750" y="6781800"/>
          <a:ext xmlns:a="http://schemas.openxmlformats.org/drawingml/2006/main" cx="66675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eaf19696d8479d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573250" y="678180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831e8a90314963"/>
          </a:graphicData>
        </a:graphic>
      </p:graphicFrame>
      <p:sp>
        <p:nvSpPr>
          <p:cNvPr id="11" name="legend-swatch-0-0">
            <a:extLst xmlns:a="http://schemas.openxmlformats.org/drawingml/2006/main">
              <a:ext uri="{FF2B5EF4-FFF2-40B4-BE49-F238E27FC236}">
                <a16:creationId xmlns:a16="http://schemas.microsoft.com/office/drawing/2014/main" id="{159B3CBA-8E74-43C5-AE17-1597F7B8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1824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12" name="legend-label-0-0">
            <a:extLst xmlns:a="http://schemas.openxmlformats.org/drawingml/2006/main">
              <a:ext uri="{FF2B5EF4-FFF2-40B4-BE49-F238E27FC236}">
                <a16:creationId xmlns:a16="http://schemas.microsoft.com/office/drawing/2014/main" id="{AA79F9C6-5EC4-4FBA-AA88-1B4E676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0967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Our Design (local)</a:t>
            </a:r>
          </a:p>
        </p:txBody>
      </p:sp>
      <p:sp>
        <p:nvSpPr>
          <p:cNvPr id="13" name="legend-swatch-0-1">
            <a:extLst xmlns:a="http://schemas.openxmlformats.org/drawingml/2006/main">
              <a:ext uri="{FF2B5EF4-FFF2-40B4-BE49-F238E27FC236}">
                <a16:creationId xmlns:a16="http://schemas.microsoft.com/office/drawing/2014/main" id="{BAC4F467-166F-481A-8322-389DFFB6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1824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FCD"/>
          </a:solidFill>
          <a:ln xmlns:a="http://schemas.openxmlformats.org/drawingml/2006/main" w="19050">
            <a:solidFill>
              <a:srgbClr val="3F7FCD"/>
            </a:solidFill>
            <a:prstDash val="solid"/>
          </a:ln>
        </p:spPr>
      </p:sp>
      <p:sp>
        <p:nvSpPr>
          <p:cNvPr id="14" name="legend-label-0-1">
            <a:extLst xmlns:a="http://schemas.openxmlformats.org/drawingml/2006/main">
              <a:ext uri="{FF2B5EF4-FFF2-40B4-BE49-F238E27FC236}">
                <a16:creationId xmlns:a16="http://schemas.microsoft.com/office/drawing/2014/main" id="{88FF200A-6647-472B-8D77-366258A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967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Hardware papers [1][3][4]</a:t>
            </a:r>
          </a:p>
        </p:txBody>
      </p:sp>
      <p:sp>
        <p:nvSpPr>
          <p:cNvPr id="15" name="legend-swatch-0-2">
            <a:extLst xmlns:a="http://schemas.openxmlformats.org/drawingml/2006/main">
              <a:ext uri="{FF2B5EF4-FFF2-40B4-BE49-F238E27FC236}">
                <a16:creationId xmlns:a16="http://schemas.microsoft.com/office/drawing/2014/main" id="{5E8BC2DF-D49E-4F23-AB2D-D4A9A828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21824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9050">
            <a:solidFill>
              <a:srgbClr val="7B61FF"/>
            </a:solidFill>
            <a:prstDash val="solid"/>
          </a:ln>
        </p:spPr>
      </p:sp>
      <p:sp>
        <p:nvSpPr>
          <p:cNvPr id="16" name="legend-label-0-2">
            <a:extLst xmlns:a="http://schemas.openxmlformats.org/drawingml/2006/main">
              <a:ext uri="{FF2B5EF4-FFF2-40B4-BE49-F238E27FC236}">
                <a16:creationId xmlns:a16="http://schemas.microsoft.com/office/drawing/2014/main" id="{17ED247E-2F58-4782-8A45-27AB6AC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120967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Official AES IP [2]</a:t>
            </a:r>
          </a:p>
        </p:txBody>
      </p:sp>
      <p:sp>
        <p:nvSpPr>
          <p:cNvPr id="17" name="legend-swatch-1-0">
            <a:extLst xmlns:a="http://schemas.openxmlformats.org/drawingml/2006/main">
              <a:ext uri="{FF2B5EF4-FFF2-40B4-BE49-F238E27FC236}">
                <a16:creationId xmlns:a16="http://schemas.microsoft.com/office/drawing/2014/main" id="{3D522FAC-6468-4036-9C43-17EB990D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253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18" name="legend-label-1-0">
            <a:extLst xmlns:a="http://schemas.openxmlformats.org/drawingml/2006/main">
              <a:ext uri="{FF2B5EF4-FFF2-40B4-BE49-F238E27FC236}">
                <a16:creationId xmlns:a16="http://schemas.microsoft.com/office/drawing/2014/main" id="{54E0C49F-241E-456C-876C-73A2064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4396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Standard compressors (local)</a:t>
            </a:r>
          </a:p>
        </p:txBody>
      </p:sp>
      <p:sp>
        <p:nvSpPr>
          <p:cNvPr id="19" name="legend-swatch-1-1">
            <a:extLst xmlns:a="http://schemas.openxmlformats.org/drawingml/2006/main">
              <a:ext uri="{FF2B5EF4-FFF2-40B4-BE49-F238E27FC236}">
                <a16:creationId xmlns:a16="http://schemas.microsoft.com/office/drawing/2014/main" id="{F956051A-8F0B-4939-BB79-48DDBA21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25253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19050">
            <a:solidFill>
              <a:srgbClr val="D9534F"/>
            </a:solidFill>
            <a:prstDash val="solid"/>
          </a:ln>
        </p:spPr>
      </p:sp>
      <p:sp>
        <p:nvSpPr>
          <p:cNvPr id="20" name="legend-label-1-1">
            <a:extLst xmlns:a="http://schemas.openxmlformats.org/drawingml/2006/main">
              <a:ext uri="{FF2B5EF4-FFF2-40B4-BE49-F238E27FC236}">
                <a16:creationId xmlns:a16="http://schemas.microsoft.com/office/drawing/2014/main" id="{1D5F0F1D-F44C-4936-B2A9-B3E4FCFE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24396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ECG papers [5][6]</a:t>
            </a:r>
          </a:p>
        </p:txBody>
      </p:sp>
      <p:sp>
        <p:nvSpPr>
          <p:cNvPr id="2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EF31F0C-F5BD-44F4-A055-9A2FD0B5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096875"/>
            <a:ext cx="2105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4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References: [1] Good &amp; Benaissa, CHES 2005. [2] OpenTitan AES HWIP. [3] Matai et al., ASAP 2014. [4] Guguloth et al., Results in Engineering, 2025. [5] Hameed et al., FGCS 2020. [6] Zarate Segura et al., IJETT 2024. Note: Throughput is normalized to 100 MHz where possible; efficiency is reported as bytes/cycle. FPGA/platform and input size differ across references.</a:t>
            </a:r>
          </a:p>
        </p:txBody>
      </p:sp>
    </p:spTree>
    <p:extLst>
      <p:ext uri="{BB962C8B-B14F-4D97-AF65-F5344CB8AC3E}">
        <p14:creationId xmlns:p14="http://schemas.microsoft.com/office/powerpoint/2010/main" val="1447130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2026-07-04T09:13:20.6500000Z</dcterms:created>
  <dcterms:modified xsi:type="dcterms:W3CDTF">2026-07-04T09:13:20.6510000Z</dcterms:modified>
</coreProperties>
</file>