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-circle">
            <a:extLst>
              <a:ext uri="{FF2B5EF4-FFF2-40B4-BE49-F238E27FC236}">
                <a16:creationId xmlns:a16="http://schemas.microsoft.com/office/drawing/2014/main" id="{58F1C30A-EE4C-4E36-A8D8-823C4130594C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68D9"/>
            </a:solidFill>
            <a:prstDash val="solid"/>
          </a:ln>
        </p:spPr>
      </p:sp>
      <p:sp>
        <p:nvSpPr>
          <p:cNvPr id="2" name="logo-c">
            <a:extLst>
              <a:ext uri="{FF2B5EF4-FFF2-40B4-BE49-F238E27FC236}">
                <a16:creationId xmlns:a16="http://schemas.microsoft.com/office/drawing/2014/main" id="{582A1F5A-5F6C-4FAE-9FC7-F987F4F72031}"/>
              </a:ext>
            </a:extLst>
          </p:cNvPr>
          <p:cNvSpPr>
            <a:spLocks noGrp="1"/>
          </p:cNvSpPr>
          <p:nvPr/>
        </p:nvSpPr>
        <p:spPr>
          <a:xfrm>
            <a:off x="800100" y="4095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3150" b="1">
                <a:solidFill>
                  <a:srgbClr val="0068D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D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uni">
            <a:extLst>
              <a:ext uri="{FF2B5EF4-FFF2-40B4-BE49-F238E27FC236}">
                <a16:creationId xmlns:a16="http://schemas.microsoft.com/office/drawing/2014/main" id="{ABD29BD5-B545-4CD4-82C1-E71BD99781B4}"/>
              </a:ext>
            </a:extLst>
          </p:cNvPr>
          <p:cNvSpPr>
            <a:spLocks noGrp="1"/>
          </p:cNvSpPr>
          <p:nvPr/>
        </p:nvSpPr>
        <p:spPr>
          <a:xfrm>
            <a:off x="1571625" y="361950"/>
            <a:ext cx="619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buNone/>
              <a:defRPr sz="16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HO CHI MINH CITY UNIVERSITY OF TECHNOLOGY</a:t>
            </a:r>
          </a:p>
          <a:p>
            <a:pPr algn="l">
              <a:lnSpc>
                <a:spcPct val="90000"/>
              </a:lnSpc>
              <a:buNone/>
              <a:defRPr sz="16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AND EDUCATION</a:t>
            </a:r>
          </a:p>
        </p:txBody>
      </p:sp>
      <p:sp>
        <p:nvSpPr>
          <p:cNvPr id="4" name="uni-sub">
            <a:extLst>
              <a:ext uri="{FF2B5EF4-FFF2-40B4-BE49-F238E27FC236}">
                <a16:creationId xmlns:a16="http://schemas.microsoft.com/office/drawing/2014/main" id="{F2CD5D9F-9EA5-46D3-AED7-1B8C55CFA8F7}"/>
              </a:ext>
            </a:extLst>
          </p:cNvPr>
          <p:cNvSpPr>
            <a:spLocks noGrp="1"/>
          </p:cNvSpPr>
          <p:nvPr/>
        </p:nvSpPr>
        <p:spPr>
          <a:xfrm>
            <a:off x="1200150" y="1285875"/>
            <a:ext cx="689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6758A"/>
                </a:solidFill>
                <a:latin typeface="Arial"/>
                <a:ea typeface="Arial"/>
                <a:cs typeface="Arial"/>
              </a:rPr>
              <a:t>HCMC University of Technology and Education</a:t>
            </a:r>
          </a:p>
        </p:txBody>
      </p:sp>
      <p:sp>
        <p:nvSpPr>
          <p:cNvPr id="5" name="section-band">
            <a:extLst>
              <a:ext uri="{FF2B5EF4-FFF2-40B4-BE49-F238E27FC236}">
                <a16:creationId xmlns:a16="http://schemas.microsoft.com/office/drawing/2014/main" id="{BCCB15A7-288A-420F-8BF9-8D8FBB38AD3C}"/>
              </a:ext>
            </a:extLst>
          </p:cNvPr>
          <p:cNvSpPr>
            <a:spLocks noGrp="1"/>
          </p:cNvSpPr>
          <p:nvPr/>
        </p:nvSpPr>
        <p:spPr>
          <a:xfrm>
            <a:off x="923846" y="1624012"/>
            <a:ext cx="7239000" cy="704850"/>
          </a:xfrm>
          <a:prstGeom prst="rightArrow">
            <a:avLst/>
          </a:prstGeom>
          <a:solidFill>
            <a:srgbClr val="C9FAFF"/>
          </a:solidFill>
          <a:ln w="19050">
            <a:solidFill>
              <a:srgbClr val="10A6C8"/>
            </a:solidFill>
            <a:prstDash val="solid"/>
          </a:ln>
        </p:spPr>
        <p:txBody>
          <a:bodyPr lIns="238125" tIns="0" rIns="114300" bIns="0" anchor="ctr"/>
          <a:lstStyle/>
          <a:p>
            <a:pPr algn="l">
              <a:defRPr sz="31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DESIGN QUALITY EVALUATION</a:t>
            </a:r>
          </a:p>
        </p:txBody>
      </p:sp>
      <p:sp>
        <p:nvSpPr>
          <p:cNvPr id="6" name="left-title">
            <a:extLst>
              <a:ext uri="{FF2B5EF4-FFF2-40B4-BE49-F238E27FC236}">
                <a16:creationId xmlns:a16="http://schemas.microsoft.com/office/drawing/2014/main" id="{F3CBEA58-40EA-468D-AF5E-693B7C394EB5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30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RTL/FPGA Run Evidence</a:t>
            </a:r>
          </a:p>
        </p:txBody>
      </p:sp>
      <p:sp>
        <p:nvSpPr>
          <p:cNvPr id="7" name="left-sub">
            <a:extLst>
              <a:ext uri="{FF2B5EF4-FFF2-40B4-BE49-F238E27FC236}">
                <a16:creationId xmlns:a16="http://schemas.microsoft.com/office/drawing/2014/main" id="{B1B98312-4BDD-46D4-BDF7-05BFB2423E37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Secure-storage workload on MIT-BIH ECG records</a:t>
            </a: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3551767"/>
            <a:ext cx="7429500" cy="3412067"/>
          </a:xfrm>
          <a:prstGeom prst="roundRect">
            <a:avLst>
              <a:gd name="adj" fmla="val 3333"/>
            </a:avLst>
          </a:prstGeom>
        </p:spPr>
      </p:pic>
      <p:sp>
        <p:nvSpPr>
          <p:cNvPr id="9" name="kpi-0">
            <a:extLst>
              <a:ext uri="{FF2B5EF4-FFF2-40B4-BE49-F238E27FC236}">
                <a16:creationId xmlns:a16="http://schemas.microsoft.com/office/drawing/2014/main" id="{FD25D948-D192-4311-B620-B8414B8C5E13}"/>
              </a:ext>
            </a:extLst>
          </p:cNvPr>
          <p:cNvSpPr>
            <a:spLocks noGrp="1"/>
          </p:cNvSpPr>
          <p:nvPr/>
        </p:nvSpPr>
        <p:spPr>
          <a:xfrm>
            <a:off x="666750" y="7238999"/>
            <a:ext cx="2238375" cy="1728787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</p:sp>
      <p:sp>
        <p:nvSpPr>
          <p:cNvPr id="10" name="kpi-value-0">
            <a:extLst>
              <a:ext uri="{FF2B5EF4-FFF2-40B4-BE49-F238E27FC236}">
                <a16:creationId xmlns:a16="http://schemas.microsoft.com/office/drawing/2014/main" id="{9E75F335-7FAE-46A1-B484-E2ED70B05704}"/>
              </a:ext>
            </a:extLst>
          </p:cNvPr>
          <p:cNvSpPr>
            <a:spLocks noGrp="1"/>
          </p:cNvSpPr>
          <p:nvPr/>
        </p:nvSpPr>
        <p:spPr>
          <a:xfrm>
            <a:off x="666750" y="74104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34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29.87%</a:t>
            </a:r>
          </a:p>
        </p:txBody>
      </p:sp>
      <p:sp>
        <p:nvSpPr>
          <p:cNvPr id="11" name="kpi-label-0">
            <a:extLst>
              <a:ext uri="{FF2B5EF4-FFF2-40B4-BE49-F238E27FC236}">
                <a16:creationId xmlns:a16="http://schemas.microsoft.com/office/drawing/2014/main" id="{BFDA781F-CC11-432D-A2D6-665CE1DCEB88}"/>
              </a:ext>
            </a:extLst>
          </p:cNvPr>
          <p:cNvSpPr>
            <a:spLocks noGrp="1"/>
          </p:cNvSpPr>
          <p:nvPr/>
        </p:nvSpPr>
        <p:spPr>
          <a:xfrm>
            <a:off x="666750" y="79438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240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final ratio</a:t>
            </a:r>
          </a:p>
        </p:txBody>
      </p:sp>
      <p:sp>
        <p:nvSpPr>
          <p:cNvPr id="12" name="kpi-1">
            <a:extLst>
              <a:ext uri="{FF2B5EF4-FFF2-40B4-BE49-F238E27FC236}">
                <a16:creationId xmlns:a16="http://schemas.microsoft.com/office/drawing/2014/main" id="{37AE08A0-6B3E-4030-87AB-36869AF97C13}"/>
              </a:ext>
            </a:extLst>
          </p:cNvPr>
          <p:cNvSpPr>
            <a:spLocks noGrp="1"/>
          </p:cNvSpPr>
          <p:nvPr/>
        </p:nvSpPr>
        <p:spPr>
          <a:xfrm>
            <a:off x="3190875" y="7239000"/>
            <a:ext cx="2238375" cy="172878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</p:sp>
      <p:sp>
        <p:nvSpPr>
          <p:cNvPr id="13" name="kpi-value-1">
            <a:extLst>
              <a:ext uri="{FF2B5EF4-FFF2-40B4-BE49-F238E27FC236}">
                <a16:creationId xmlns:a16="http://schemas.microsoft.com/office/drawing/2014/main" id="{19240395-D84B-405A-B71E-0A7C56A2B54D}"/>
              </a:ext>
            </a:extLst>
          </p:cNvPr>
          <p:cNvSpPr>
            <a:spLocks noGrp="1"/>
          </p:cNvSpPr>
          <p:nvPr/>
        </p:nvSpPr>
        <p:spPr>
          <a:xfrm>
            <a:off x="3190875" y="74104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34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70.13%</a:t>
            </a:r>
          </a:p>
        </p:txBody>
      </p:sp>
      <p:sp>
        <p:nvSpPr>
          <p:cNvPr id="14" name="kpi-label-1">
            <a:extLst>
              <a:ext uri="{FF2B5EF4-FFF2-40B4-BE49-F238E27FC236}">
                <a16:creationId xmlns:a16="http://schemas.microsoft.com/office/drawing/2014/main" id="{A31B7038-0BB4-4BB4-A7BB-F5F80EADB185}"/>
              </a:ext>
            </a:extLst>
          </p:cNvPr>
          <p:cNvSpPr>
            <a:spLocks noGrp="1"/>
          </p:cNvSpPr>
          <p:nvPr/>
        </p:nvSpPr>
        <p:spPr>
          <a:xfrm>
            <a:off x="3190875" y="8163984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240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space saving</a:t>
            </a:r>
          </a:p>
        </p:txBody>
      </p:sp>
      <p:sp>
        <p:nvSpPr>
          <p:cNvPr id="15" name="kpi-2">
            <a:extLst>
              <a:ext uri="{FF2B5EF4-FFF2-40B4-BE49-F238E27FC236}">
                <a16:creationId xmlns:a16="http://schemas.microsoft.com/office/drawing/2014/main" id="{9F8FB84E-FF6F-48E7-95A9-BA70D8E11028}"/>
              </a:ext>
            </a:extLst>
          </p:cNvPr>
          <p:cNvSpPr>
            <a:spLocks noGrp="1"/>
          </p:cNvSpPr>
          <p:nvPr/>
        </p:nvSpPr>
        <p:spPr>
          <a:xfrm>
            <a:off x="5715000" y="7239000"/>
            <a:ext cx="2238375" cy="172878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</p:sp>
      <p:sp>
        <p:nvSpPr>
          <p:cNvPr id="16" name="kpi-value-2">
            <a:extLst>
              <a:ext uri="{FF2B5EF4-FFF2-40B4-BE49-F238E27FC236}">
                <a16:creationId xmlns:a16="http://schemas.microsoft.com/office/drawing/2014/main" id="{B8C54B46-4D76-47E0-A02A-7302882D5320}"/>
              </a:ext>
            </a:extLst>
          </p:cNvPr>
          <p:cNvSpPr>
            <a:spLocks noGrp="1"/>
          </p:cNvSpPr>
          <p:nvPr/>
        </p:nvSpPr>
        <p:spPr>
          <a:xfrm>
            <a:off x="5715000" y="74104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34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7" name="kpi-label-2">
            <a:extLst>
              <a:ext uri="{FF2B5EF4-FFF2-40B4-BE49-F238E27FC236}">
                <a16:creationId xmlns:a16="http://schemas.microsoft.com/office/drawing/2014/main" id="{7BA14BE3-55A2-4B3E-A952-A6D0A91F5328}"/>
              </a:ext>
            </a:extLst>
          </p:cNvPr>
          <p:cNvSpPr>
            <a:spLocks noGrp="1"/>
          </p:cNvSpPr>
          <p:nvPr/>
        </p:nvSpPr>
        <p:spPr>
          <a:xfrm>
            <a:off x="5715000" y="7943850"/>
            <a:ext cx="2238375" cy="10239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240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byte match</a:t>
            </a:r>
          </a:p>
        </p:txBody>
      </p:sp>
      <p:sp>
        <p:nvSpPr>
          <p:cNvPr id="18" name="right-title">
            <a:extLst>
              <a:ext uri="{FF2B5EF4-FFF2-40B4-BE49-F238E27FC236}">
                <a16:creationId xmlns:a16="http://schemas.microsoft.com/office/drawing/2014/main" id="{3C49B0C1-8F80-4BF7-BB93-56088514FF1D}"/>
              </a:ext>
            </a:extLst>
          </p:cNvPr>
          <p:cNvSpPr>
            <a:spLocks noGrp="1"/>
          </p:cNvSpPr>
          <p:nvPr/>
        </p:nvSpPr>
        <p:spPr>
          <a:xfrm>
            <a:off x="8620125" y="1781175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30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Comparison Summary</a:t>
            </a:r>
          </a:p>
        </p:txBody>
      </p:sp>
      <p:sp>
        <p:nvSpPr>
          <p:cNvPr id="19" name="right-sub">
            <a:extLst>
              <a:ext uri="{FF2B5EF4-FFF2-40B4-BE49-F238E27FC236}">
                <a16:creationId xmlns:a16="http://schemas.microsoft.com/office/drawing/2014/main" id="{E0706475-1A09-423C-A081-C9814D35E61B}"/>
              </a:ext>
            </a:extLst>
          </p:cNvPr>
          <p:cNvSpPr>
            <a:spLocks noGrp="1"/>
          </p:cNvSpPr>
          <p:nvPr/>
        </p:nvSpPr>
        <p:spPr>
          <a:xfrm>
            <a:off x="8572500" y="2281237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Paper baseline: ECG Huffman + CBC-AES [1]</a:t>
            </a:r>
          </a:p>
        </p:txBody>
      </p:sp>
      <p:sp>
        <p:nvSpPr>
          <p:cNvPr id="20" name="head-0-box">
            <a:extLst>
              <a:ext uri="{FF2B5EF4-FFF2-40B4-BE49-F238E27FC236}">
                <a16:creationId xmlns:a16="http://schemas.microsoft.com/office/drawing/2014/main" id="{76A440A1-8F67-44F1-B593-6720FB650561}"/>
              </a:ext>
            </a:extLst>
          </p:cNvPr>
          <p:cNvSpPr>
            <a:spLocks noGrp="1"/>
          </p:cNvSpPr>
          <p:nvPr/>
        </p:nvSpPr>
        <p:spPr>
          <a:xfrm>
            <a:off x="8572500" y="3341245"/>
            <a:ext cx="2667000" cy="837221"/>
          </a:xfrm>
          <a:prstGeom prst="rect">
            <a:avLst/>
          </a:prstGeom>
          <a:solidFill>
            <a:srgbClr val="EAF2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95250" tIns="57150" rIns="95250" bIns="57150" anchor="ctr"/>
          <a:lstStyle/>
          <a:p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1" name="head-1-box">
            <a:extLst>
              <a:ext uri="{FF2B5EF4-FFF2-40B4-BE49-F238E27FC236}">
                <a16:creationId xmlns:a16="http://schemas.microsoft.com/office/drawing/2014/main" id="{50ECF1AA-2B4E-42FD-9835-0297A976F518}"/>
              </a:ext>
            </a:extLst>
          </p:cNvPr>
          <p:cNvSpPr>
            <a:spLocks noGrp="1"/>
          </p:cNvSpPr>
          <p:nvPr/>
        </p:nvSpPr>
        <p:spPr>
          <a:xfrm>
            <a:off x="11239500" y="3352800"/>
            <a:ext cx="2095500" cy="800100"/>
          </a:xfrm>
          <a:prstGeom prst="rect">
            <a:avLst/>
          </a:prstGeom>
          <a:solidFill>
            <a:srgbClr val="EAF2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95250" tIns="57150" rIns="95250" bIns="57150" anchor="ctr"/>
          <a:lstStyle/>
          <a:p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Paper [1]</a:t>
            </a:r>
          </a:p>
        </p:txBody>
      </p:sp>
      <p:sp>
        <p:nvSpPr>
          <p:cNvPr id="22" name="head-2-box">
            <a:extLst>
              <a:ext uri="{FF2B5EF4-FFF2-40B4-BE49-F238E27FC236}">
                <a16:creationId xmlns:a16="http://schemas.microsoft.com/office/drawing/2014/main" id="{5B99EB7F-B7CA-4A7E-8761-0681B5727DEA}"/>
              </a:ext>
            </a:extLst>
          </p:cNvPr>
          <p:cNvSpPr>
            <a:spLocks noGrp="1"/>
          </p:cNvSpPr>
          <p:nvPr/>
        </p:nvSpPr>
        <p:spPr>
          <a:xfrm>
            <a:off x="13335000" y="3352800"/>
            <a:ext cx="2095500" cy="800100"/>
          </a:xfrm>
          <a:prstGeom prst="rect">
            <a:avLst/>
          </a:prstGeom>
          <a:solidFill>
            <a:srgbClr val="EAF2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95250" tIns="57150" rIns="95250" bIns="57150" anchor="ctr"/>
          <a:lstStyle/>
          <a:p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This Work</a:t>
            </a:r>
          </a:p>
        </p:txBody>
      </p:sp>
      <p:sp>
        <p:nvSpPr>
          <p:cNvPr id="23" name="head-3-box">
            <a:extLst>
              <a:ext uri="{FF2B5EF4-FFF2-40B4-BE49-F238E27FC236}">
                <a16:creationId xmlns:a16="http://schemas.microsoft.com/office/drawing/2014/main" id="{8A280CCE-05ED-461E-9FD9-0D5D11C07F17}"/>
              </a:ext>
            </a:extLst>
          </p:cNvPr>
          <p:cNvSpPr>
            <a:spLocks noGrp="1"/>
          </p:cNvSpPr>
          <p:nvPr/>
        </p:nvSpPr>
        <p:spPr>
          <a:xfrm>
            <a:off x="15430500" y="3352800"/>
            <a:ext cx="2381250" cy="811655"/>
          </a:xfrm>
          <a:prstGeom prst="rect">
            <a:avLst/>
          </a:prstGeom>
          <a:solidFill>
            <a:srgbClr val="EAF2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95250" tIns="57150" rIns="95250" bIns="57150" anchor="ctr"/>
          <a:lstStyle/>
          <a:p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4" name="row-0-0-box">
            <a:extLst>
              <a:ext uri="{FF2B5EF4-FFF2-40B4-BE49-F238E27FC236}">
                <a16:creationId xmlns:a16="http://schemas.microsoft.com/office/drawing/2014/main" id="{C0EDF33B-4D65-4E78-80A1-6A5366B05282}"/>
              </a:ext>
            </a:extLst>
          </p:cNvPr>
          <p:cNvSpPr>
            <a:spLocks noGrp="1"/>
          </p:cNvSpPr>
          <p:nvPr/>
        </p:nvSpPr>
        <p:spPr>
          <a:xfrm>
            <a:off x="8572500" y="4152900"/>
            <a:ext cx="26670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Final ratio</a:t>
            </a:r>
          </a:p>
        </p:txBody>
      </p:sp>
      <p:sp>
        <p:nvSpPr>
          <p:cNvPr id="25" name="row-0-1-box">
            <a:extLst>
              <a:ext uri="{FF2B5EF4-FFF2-40B4-BE49-F238E27FC236}">
                <a16:creationId xmlns:a16="http://schemas.microsoft.com/office/drawing/2014/main" id="{A4BB475E-1940-40F1-8F07-CFB41AEE20D8}"/>
              </a:ext>
            </a:extLst>
          </p:cNvPr>
          <p:cNvSpPr>
            <a:spLocks noGrp="1"/>
          </p:cNvSpPr>
          <p:nvPr/>
        </p:nvSpPr>
        <p:spPr>
          <a:xfrm>
            <a:off x="11239500" y="4152900"/>
            <a:ext cx="20955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35.015%</a:t>
            </a:r>
          </a:p>
        </p:txBody>
      </p:sp>
      <p:sp>
        <p:nvSpPr>
          <p:cNvPr id="26" name="row-0-2-box">
            <a:extLst>
              <a:ext uri="{FF2B5EF4-FFF2-40B4-BE49-F238E27FC236}">
                <a16:creationId xmlns:a16="http://schemas.microsoft.com/office/drawing/2014/main" id="{99AB24DE-07D3-4637-83B6-F4F89C1397F0}"/>
              </a:ext>
            </a:extLst>
          </p:cNvPr>
          <p:cNvSpPr>
            <a:spLocks noGrp="1"/>
          </p:cNvSpPr>
          <p:nvPr/>
        </p:nvSpPr>
        <p:spPr>
          <a:xfrm>
            <a:off x="13335000" y="4152900"/>
            <a:ext cx="20955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29.87%</a:t>
            </a:r>
          </a:p>
        </p:txBody>
      </p:sp>
      <p:sp>
        <p:nvSpPr>
          <p:cNvPr id="27" name="row-0-3-box">
            <a:extLst>
              <a:ext uri="{FF2B5EF4-FFF2-40B4-BE49-F238E27FC236}">
                <a16:creationId xmlns:a16="http://schemas.microsoft.com/office/drawing/2014/main" id="{41B7B0EA-DAB2-414F-B807-80B1D4538307}"/>
              </a:ext>
            </a:extLst>
          </p:cNvPr>
          <p:cNvSpPr>
            <a:spLocks noGrp="1"/>
          </p:cNvSpPr>
          <p:nvPr/>
        </p:nvSpPr>
        <p:spPr>
          <a:xfrm>
            <a:off x="15430500" y="4152900"/>
            <a:ext cx="23812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+14.69%</a:t>
            </a:r>
          </a:p>
        </p:txBody>
      </p:sp>
      <p:sp>
        <p:nvSpPr>
          <p:cNvPr id="28" name="row-1-0-box">
            <a:extLst>
              <a:ext uri="{FF2B5EF4-FFF2-40B4-BE49-F238E27FC236}">
                <a16:creationId xmlns:a16="http://schemas.microsoft.com/office/drawing/2014/main" id="{D4E9C61F-F09B-452E-967F-6435D607EA44}"/>
              </a:ext>
            </a:extLst>
          </p:cNvPr>
          <p:cNvSpPr>
            <a:spLocks noGrp="1"/>
          </p:cNvSpPr>
          <p:nvPr/>
        </p:nvSpPr>
        <p:spPr>
          <a:xfrm>
            <a:off x="8572500" y="4857749"/>
            <a:ext cx="2667000" cy="1081617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Space saving</a:t>
            </a:r>
          </a:p>
        </p:txBody>
      </p:sp>
      <p:sp>
        <p:nvSpPr>
          <p:cNvPr id="29" name="row-1-1-box">
            <a:extLst>
              <a:ext uri="{FF2B5EF4-FFF2-40B4-BE49-F238E27FC236}">
                <a16:creationId xmlns:a16="http://schemas.microsoft.com/office/drawing/2014/main" id="{C31A4CFC-4E71-43C6-B306-8616537A5FCA}"/>
              </a:ext>
            </a:extLst>
          </p:cNvPr>
          <p:cNvSpPr>
            <a:spLocks noGrp="1"/>
          </p:cNvSpPr>
          <p:nvPr/>
        </p:nvSpPr>
        <p:spPr>
          <a:xfrm>
            <a:off x="11239500" y="4857750"/>
            <a:ext cx="2095500" cy="1081616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64.985%</a:t>
            </a:r>
          </a:p>
        </p:txBody>
      </p:sp>
      <p:sp>
        <p:nvSpPr>
          <p:cNvPr id="30" name="row-1-2-box">
            <a:extLst>
              <a:ext uri="{FF2B5EF4-FFF2-40B4-BE49-F238E27FC236}">
                <a16:creationId xmlns:a16="http://schemas.microsoft.com/office/drawing/2014/main" id="{7F10E8B5-481F-49D3-BA6B-A07FF6C6952C}"/>
              </a:ext>
            </a:extLst>
          </p:cNvPr>
          <p:cNvSpPr>
            <a:spLocks noGrp="1"/>
          </p:cNvSpPr>
          <p:nvPr/>
        </p:nvSpPr>
        <p:spPr>
          <a:xfrm>
            <a:off x="13335000" y="4857750"/>
            <a:ext cx="2095500" cy="1081616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70.13%</a:t>
            </a:r>
          </a:p>
        </p:txBody>
      </p:sp>
      <p:sp>
        <p:nvSpPr>
          <p:cNvPr id="31" name="row-1-3-box">
            <a:extLst>
              <a:ext uri="{FF2B5EF4-FFF2-40B4-BE49-F238E27FC236}">
                <a16:creationId xmlns:a16="http://schemas.microsoft.com/office/drawing/2014/main" id="{32CAC4A4-1C89-4A5B-8963-C957E891B9BE}"/>
              </a:ext>
            </a:extLst>
          </p:cNvPr>
          <p:cNvSpPr>
            <a:spLocks noGrp="1"/>
          </p:cNvSpPr>
          <p:nvPr/>
        </p:nvSpPr>
        <p:spPr>
          <a:xfrm>
            <a:off x="15430500" y="4857749"/>
            <a:ext cx="2381250" cy="1081615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+7.92%</a:t>
            </a:r>
          </a:p>
        </p:txBody>
      </p:sp>
      <p:sp>
        <p:nvSpPr>
          <p:cNvPr id="32" name="row-2-0-box">
            <a:extLst>
              <a:ext uri="{FF2B5EF4-FFF2-40B4-BE49-F238E27FC236}">
                <a16:creationId xmlns:a16="http://schemas.microsoft.com/office/drawing/2014/main" id="{70D5F452-98C7-4C15-A902-E7402B8AA6B0}"/>
              </a:ext>
            </a:extLst>
          </p:cNvPr>
          <p:cNvSpPr>
            <a:spLocks noGrp="1"/>
          </p:cNvSpPr>
          <p:nvPr/>
        </p:nvSpPr>
        <p:spPr>
          <a:xfrm>
            <a:off x="8572500" y="5939367"/>
            <a:ext cx="26670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Huff. comp.</a:t>
            </a:r>
          </a:p>
        </p:txBody>
      </p:sp>
      <p:sp>
        <p:nvSpPr>
          <p:cNvPr id="33" name="row-2-1-box">
            <a:extLst>
              <a:ext uri="{FF2B5EF4-FFF2-40B4-BE49-F238E27FC236}">
                <a16:creationId xmlns:a16="http://schemas.microsoft.com/office/drawing/2014/main" id="{C38D4050-778F-4128-BD9A-F58BCE4FB834}"/>
              </a:ext>
            </a:extLst>
          </p:cNvPr>
          <p:cNvSpPr>
            <a:spLocks noGrp="1"/>
          </p:cNvSpPr>
          <p:nvPr/>
        </p:nvSpPr>
        <p:spPr>
          <a:xfrm>
            <a:off x="11239500" y="5939367"/>
            <a:ext cx="20955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~3.8641 s</a:t>
            </a:r>
          </a:p>
        </p:txBody>
      </p:sp>
      <p:sp>
        <p:nvSpPr>
          <p:cNvPr id="34" name="row-2-2-box">
            <a:extLst>
              <a:ext uri="{FF2B5EF4-FFF2-40B4-BE49-F238E27FC236}">
                <a16:creationId xmlns:a16="http://schemas.microsoft.com/office/drawing/2014/main" id="{D72CC126-6430-4BEF-9369-15D0A12E2DCB}"/>
              </a:ext>
            </a:extLst>
          </p:cNvPr>
          <p:cNvSpPr>
            <a:spLocks noGrp="1"/>
          </p:cNvSpPr>
          <p:nvPr/>
        </p:nvSpPr>
        <p:spPr>
          <a:xfrm>
            <a:off x="13335000" y="5939367"/>
            <a:ext cx="20955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1.056 ms</a:t>
            </a:r>
          </a:p>
        </p:txBody>
      </p:sp>
      <p:sp>
        <p:nvSpPr>
          <p:cNvPr id="35" name="row-2-3-box">
            <a:extLst>
              <a:ext uri="{FF2B5EF4-FFF2-40B4-BE49-F238E27FC236}">
                <a16:creationId xmlns:a16="http://schemas.microsoft.com/office/drawing/2014/main" id="{78C6F892-FE47-41F5-9922-2AD613EBE25E}"/>
              </a:ext>
            </a:extLst>
          </p:cNvPr>
          <p:cNvSpPr>
            <a:spLocks noGrp="1"/>
          </p:cNvSpPr>
          <p:nvPr/>
        </p:nvSpPr>
        <p:spPr>
          <a:xfrm>
            <a:off x="15430500" y="5939367"/>
            <a:ext cx="23812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+99.97%</a:t>
            </a:r>
          </a:p>
        </p:txBody>
      </p:sp>
      <p:sp>
        <p:nvSpPr>
          <p:cNvPr id="36" name="row-3-0-box">
            <a:extLst>
              <a:ext uri="{FF2B5EF4-FFF2-40B4-BE49-F238E27FC236}">
                <a16:creationId xmlns:a16="http://schemas.microsoft.com/office/drawing/2014/main" id="{C3E57734-2973-4D53-A158-1114C3482401}"/>
              </a:ext>
            </a:extLst>
          </p:cNvPr>
          <p:cNvSpPr>
            <a:spLocks noGrp="1"/>
          </p:cNvSpPr>
          <p:nvPr/>
        </p:nvSpPr>
        <p:spPr>
          <a:xfrm>
            <a:off x="8572500" y="6644217"/>
            <a:ext cx="266700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Huff. decomp.</a:t>
            </a:r>
          </a:p>
        </p:txBody>
      </p:sp>
      <p:sp>
        <p:nvSpPr>
          <p:cNvPr id="37" name="row-3-1-box">
            <a:extLst>
              <a:ext uri="{FF2B5EF4-FFF2-40B4-BE49-F238E27FC236}">
                <a16:creationId xmlns:a16="http://schemas.microsoft.com/office/drawing/2014/main" id="{3F1158BA-07DE-438B-AA4A-2916A849BF26}"/>
              </a:ext>
            </a:extLst>
          </p:cNvPr>
          <p:cNvSpPr>
            <a:spLocks noGrp="1"/>
          </p:cNvSpPr>
          <p:nvPr/>
        </p:nvSpPr>
        <p:spPr>
          <a:xfrm>
            <a:off x="11239500" y="6644217"/>
            <a:ext cx="209550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~0.5818 s</a:t>
            </a:r>
          </a:p>
        </p:txBody>
      </p:sp>
      <p:sp>
        <p:nvSpPr>
          <p:cNvPr id="38" name="row-3-2-box">
            <a:extLst>
              <a:ext uri="{FF2B5EF4-FFF2-40B4-BE49-F238E27FC236}">
                <a16:creationId xmlns:a16="http://schemas.microsoft.com/office/drawing/2014/main" id="{52245BB1-1E48-4B19-9499-1A42FCD3E3DB}"/>
              </a:ext>
            </a:extLst>
          </p:cNvPr>
          <p:cNvSpPr>
            <a:spLocks noGrp="1"/>
          </p:cNvSpPr>
          <p:nvPr/>
        </p:nvSpPr>
        <p:spPr>
          <a:xfrm>
            <a:off x="13335000" y="6644217"/>
            <a:ext cx="209550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0.483 ms</a:t>
            </a:r>
          </a:p>
        </p:txBody>
      </p:sp>
      <p:sp>
        <p:nvSpPr>
          <p:cNvPr id="39" name="row-3-3-box">
            <a:extLst>
              <a:ext uri="{FF2B5EF4-FFF2-40B4-BE49-F238E27FC236}">
                <a16:creationId xmlns:a16="http://schemas.microsoft.com/office/drawing/2014/main" id="{A3EDABED-1547-4936-B849-07A9A5C7320F}"/>
              </a:ext>
            </a:extLst>
          </p:cNvPr>
          <p:cNvSpPr>
            <a:spLocks noGrp="1"/>
          </p:cNvSpPr>
          <p:nvPr/>
        </p:nvSpPr>
        <p:spPr>
          <a:xfrm>
            <a:off x="15430500" y="6644217"/>
            <a:ext cx="238125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+99.92%</a:t>
            </a:r>
          </a:p>
        </p:txBody>
      </p:sp>
      <p:sp>
        <p:nvSpPr>
          <p:cNvPr id="40" name="row-4-0-box">
            <a:extLst>
              <a:ext uri="{FF2B5EF4-FFF2-40B4-BE49-F238E27FC236}">
                <a16:creationId xmlns:a16="http://schemas.microsoft.com/office/drawing/2014/main" id="{45C4F17B-A62C-44C5-8C79-FDF864A19446}"/>
              </a:ext>
            </a:extLst>
          </p:cNvPr>
          <p:cNvSpPr>
            <a:spLocks noGrp="1"/>
          </p:cNvSpPr>
          <p:nvPr/>
        </p:nvSpPr>
        <p:spPr>
          <a:xfrm>
            <a:off x="8572500" y="7349067"/>
            <a:ext cx="26670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AES encrypt</a:t>
            </a:r>
          </a:p>
        </p:txBody>
      </p:sp>
      <p:sp>
        <p:nvSpPr>
          <p:cNvPr id="41" name="row-4-1-box">
            <a:extLst>
              <a:ext uri="{FF2B5EF4-FFF2-40B4-BE49-F238E27FC236}">
                <a16:creationId xmlns:a16="http://schemas.microsoft.com/office/drawing/2014/main" id="{AFB405C4-B950-4677-BE22-19AD54F13DB5}"/>
              </a:ext>
            </a:extLst>
          </p:cNvPr>
          <p:cNvSpPr>
            <a:spLocks noGrp="1"/>
          </p:cNvSpPr>
          <p:nvPr/>
        </p:nvSpPr>
        <p:spPr>
          <a:xfrm>
            <a:off x="11239500" y="7349067"/>
            <a:ext cx="20955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~2.7106 s</a:t>
            </a:r>
          </a:p>
        </p:txBody>
      </p:sp>
      <p:sp>
        <p:nvSpPr>
          <p:cNvPr id="42" name="row-4-2-box">
            <a:extLst>
              <a:ext uri="{FF2B5EF4-FFF2-40B4-BE49-F238E27FC236}">
                <a16:creationId xmlns:a16="http://schemas.microsoft.com/office/drawing/2014/main" id="{A989C40B-EC6D-4E80-91A5-F379FF734438}"/>
              </a:ext>
            </a:extLst>
          </p:cNvPr>
          <p:cNvSpPr>
            <a:spLocks noGrp="1"/>
          </p:cNvSpPr>
          <p:nvPr/>
        </p:nvSpPr>
        <p:spPr>
          <a:xfrm>
            <a:off x="13335000" y="7349067"/>
            <a:ext cx="209550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29.6 us</a:t>
            </a:r>
          </a:p>
        </p:txBody>
      </p:sp>
      <p:sp>
        <p:nvSpPr>
          <p:cNvPr id="43" name="row-4-3-box">
            <a:extLst>
              <a:ext uri="{FF2B5EF4-FFF2-40B4-BE49-F238E27FC236}">
                <a16:creationId xmlns:a16="http://schemas.microsoft.com/office/drawing/2014/main" id="{AC46E6B5-6F82-4092-B4E2-20833A32CD50}"/>
              </a:ext>
            </a:extLst>
          </p:cNvPr>
          <p:cNvSpPr>
            <a:spLocks noGrp="1"/>
          </p:cNvSpPr>
          <p:nvPr/>
        </p:nvSpPr>
        <p:spPr>
          <a:xfrm>
            <a:off x="15430500" y="7349067"/>
            <a:ext cx="23812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+99.999%</a:t>
            </a:r>
          </a:p>
        </p:txBody>
      </p:sp>
      <p:sp>
        <p:nvSpPr>
          <p:cNvPr id="44" name="row-5-0-box">
            <a:extLst>
              <a:ext uri="{FF2B5EF4-FFF2-40B4-BE49-F238E27FC236}">
                <a16:creationId xmlns:a16="http://schemas.microsoft.com/office/drawing/2014/main" id="{AA129C4B-F80D-475A-A81F-34EE493F8BB9}"/>
              </a:ext>
            </a:extLst>
          </p:cNvPr>
          <p:cNvSpPr>
            <a:spLocks noGrp="1"/>
          </p:cNvSpPr>
          <p:nvPr/>
        </p:nvSpPr>
        <p:spPr>
          <a:xfrm>
            <a:off x="8572500" y="8053917"/>
            <a:ext cx="266700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AES decrypt</a:t>
            </a:r>
          </a:p>
        </p:txBody>
      </p:sp>
      <p:sp>
        <p:nvSpPr>
          <p:cNvPr id="45" name="row-5-1-box">
            <a:extLst>
              <a:ext uri="{FF2B5EF4-FFF2-40B4-BE49-F238E27FC236}">
                <a16:creationId xmlns:a16="http://schemas.microsoft.com/office/drawing/2014/main" id="{05047248-BEDD-481A-8741-98E30154A81B}"/>
              </a:ext>
            </a:extLst>
          </p:cNvPr>
          <p:cNvSpPr>
            <a:spLocks noGrp="1"/>
          </p:cNvSpPr>
          <p:nvPr/>
        </p:nvSpPr>
        <p:spPr>
          <a:xfrm>
            <a:off x="11239500" y="8053917"/>
            <a:ext cx="209550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~3.0449 s</a:t>
            </a:r>
          </a:p>
        </p:txBody>
      </p:sp>
      <p:sp>
        <p:nvSpPr>
          <p:cNvPr id="46" name="row-5-2-box">
            <a:extLst>
              <a:ext uri="{FF2B5EF4-FFF2-40B4-BE49-F238E27FC236}">
                <a16:creationId xmlns:a16="http://schemas.microsoft.com/office/drawing/2014/main" id="{AE56D188-796A-4AB2-8002-B6E8A6AD65C5}"/>
              </a:ext>
            </a:extLst>
          </p:cNvPr>
          <p:cNvSpPr>
            <a:spLocks noGrp="1"/>
          </p:cNvSpPr>
          <p:nvPr/>
        </p:nvSpPr>
        <p:spPr>
          <a:xfrm>
            <a:off x="13335000" y="8053917"/>
            <a:ext cx="209550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69.2 us</a:t>
            </a:r>
          </a:p>
        </p:txBody>
      </p:sp>
      <p:sp>
        <p:nvSpPr>
          <p:cNvPr id="47" name="row-5-3-box">
            <a:extLst>
              <a:ext uri="{FF2B5EF4-FFF2-40B4-BE49-F238E27FC236}">
                <a16:creationId xmlns:a16="http://schemas.microsoft.com/office/drawing/2014/main" id="{C3550556-C479-456C-BDAC-75AB37CC0620}"/>
              </a:ext>
            </a:extLst>
          </p:cNvPr>
          <p:cNvSpPr>
            <a:spLocks noGrp="1"/>
          </p:cNvSpPr>
          <p:nvPr/>
        </p:nvSpPr>
        <p:spPr>
          <a:xfrm>
            <a:off x="15430500" y="8053917"/>
            <a:ext cx="2381250" cy="704850"/>
          </a:xfrm>
          <a:prstGeom prst="rect">
            <a:avLst/>
          </a:prstGeom>
          <a:solidFill>
            <a:srgbClr val="F3F7FF"/>
          </a:solidFill>
          <a:ln w="19050">
            <a:solidFill>
              <a:srgbClr val="B9C9E6"/>
            </a:solidFill>
            <a:prstDash val="solid"/>
          </a:ln>
        </p:spPr>
        <p:txBody>
          <a:bodyPr wrap="square" lIns="57150" tIns="19050" rIns="57150" bIns="19050" anchor="ctr"/>
          <a:lstStyle/>
          <a:p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+99.998%</a:t>
            </a:r>
          </a:p>
        </p:txBody>
      </p:sp>
      <p:sp>
        <p:nvSpPr>
          <p:cNvPr id="52" name="footer-blue">
            <a:extLst>
              <a:ext uri="{FF2B5EF4-FFF2-40B4-BE49-F238E27FC236}">
                <a16:creationId xmlns:a16="http://schemas.microsoft.com/office/drawing/2014/main" id="{55BA7068-31AF-4F9B-B528-20EAA2013E90}"/>
              </a:ext>
            </a:extLst>
          </p:cNvPr>
          <p:cNvSpPr>
            <a:spLocks noGrp="1"/>
          </p:cNvSpPr>
          <p:nvPr/>
        </p:nvSpPr>
        <p:spPr>
          <a:xfrm>
            <a:off x="476250" y="9144000"/>
            <a:ext cx="16478250" cy="933450"/>
          </a:xfrm>
          <a:prstGeom prst="roundRect">
            <a:avLst>
              <a:gd name="adj" fmla="val 21212"/>
            </a:avLst>
          </a:prstGeom>
          <a:solidFill>
            <a:srgbClr val="0068D9"/>
          </a:solidFill>
          <a:ln w="19050">
            <a:solidFill>
              <a:srgbClr val="003B91"/>
            </a:solidFill>
            <a:prstDash val="solid"/>
          </a:ln>
        </p:spPr>
      </p:sp>
      <p:sp>
        <p:nvSpPr>
          <p:cNvPr id="53" name="footer-red">
            <a:extLst>
              <a:ext uri="{FF2B5EF4-FFF2-40B4-BE49-F238E27FC236}">
                <a16:creationId xmlns:a16="http://schemas.microsoft.com/office/drawing/2014/main" id="{1BA6B93E-7286-40C3-BB64-2941837038E2}"/>
              </a:ext>
            </a:extLst>
          </p:cNvPr>
          <p:cNvSpPr>
            <a:spLocks noGrp="1"/>
          </p:cNvSpPr>
          <p:nvPr/>
        </p:nvSpPr>
        <p:spPr>
          <a:xfrm>
            <a:off x="16954500" y="9144000"/>
            <a:ext cx="857250" cy="933450"/>
          </a:xfrm>
          <a:prstGeom prst="rect">
            <a:avLst/>
          </a:prstGeom>
          <a:solidFill>
            <a:srgbClr val="F22D3A"/>
          </a:solidFill>
          <a:ln w="19050">
            <a:solidFill>
              <a:srgbClr val="F22D3A"/>
            </a:solidFill>
            <a:prstDash val="solid"/>
          </a:ln>
        </p:spPr>
      </p:sp>
      <p:sp>
        <p:nvSpPr>
          <p:cNvPr id="54" name="footer-text">
            <a:extLst>
              <a:ext uri="{FF2B5EF4-FFF2-40B4-BE49-F238E27FC236}">
                <a16:creationId xmlns:a16="http://schemas.microsoft.com/office/drawing/2014/main" id="{96B939F0-6C03-4E06-B5E8-2CF71231DA7D}"/>
              </a:ext>
            </a:extLst>
          </p:cNvPr>
          <p:cNvSpPr>
            <a:spLocks noGrp="1"/>
          </p:cNvSpPr>
          <p:nvPr/>
        </p:nvSpPr>
        <p:spPr>
          <a:xfrm>
            <a:off x="1000125" y="9401175"/>
            <a:ext cx="1581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type: MIT-BIH ECG records | Avg input: 3603.8 bytes/record | Raw reference: 7200 bytes/record</a:t>
            </a:r>
          </a:p>
        </p:txBody>
      </p:sp>
      <p:sp>
        <p:nvSpPr>
          <p:cNvPr id="55" name="source">
            <a:extLst>
              <a:ext uri="{FF2B5EF4-FFF2-40B4-BE49-F238E27FC236}">
                <a16:creationId xmlns:a16="http://schemas.microsoft.com/office/drawing/2014/main" id="{4E7E8B9B-2D93-4F72-9468-A1D246C1E62C}"/>
              </a:ext>
            </a:extLst>
          </p:cNvPr>
          <p:cNvSpPr>
            <a:spLocks noGrp="1"/>
          </p:cNvSpPr>
          <p:nvPr/>
        </p:nvSpPr>
        <p:spPr>
          <a:xfrm>
            <a:off x="10039350" y="304800"/>
            <a:ext cx="762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buNone/>
              <a:defRPr sz="1500" b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3200" b="0">
                <a:solidFill>
                  <a:srgbClr val="66758A"/>
                </a:solidFill>
                <a:latin typeface="Arial"/>
                <a:ea typeface="Arial"/>
                <a:cs typeface="Arial"/>
              </a:rPr>
              <a:t>[1] FGCS 2019 ECG Huffman + CBC-AES paper. Paper platform: MATLAB 2018a, Windows 7 64-bit, i5 2nd Gen, 8 GB RAM.</a:t>
            </a:r>
          </a:p>
        </p:txBody>
      </p:sp>
    </p:spTree>
    <p:extLst>
      <p:ext uri="{BB962C8B-B14F-4D97-AF65-F5344CB8AC3E}">
        <p14:creationId xmlns:p14="http://schemas.microsoft.com/office/powerpoint/2010/main" val="11517068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DocSecurity>0</DocSecurity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_</cp:lastModifiedBy>
  <cp:revision>1</cp:revision>
  <dcterms:created xsi:type="dcterms:W3CDTF">2026-07-02T12:38:14Z</dcterms:created>
  <dcterms:modified xsi:type="dcterms:W3CDTF">2026-07-02T13:13:56Z</dcterms:modified>
</cp:coreProperties>
</file>