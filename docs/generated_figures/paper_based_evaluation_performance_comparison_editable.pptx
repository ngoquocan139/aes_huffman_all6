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7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2860000" cy="142875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8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835" autoAdjust="0"/>
  </p:normalViewPr>
  <p:slideViewPr>
    <p:cSldViewPr snapToGrid="0">
      <p:cViewPr varScale="1">
        <p:scale>
          <a:sx n="34" d="100"/>
          <a:sy n="34" d="100"/>
        </p:scale>
        <p:origin x="7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H:\Academic\senior_project\DATN\work\luc\AES_huffman_all6\docs\generated_figures\paper_based_evaluation_performance_comparison_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H:\Academic\senior_project\DATN\work\luc\AES_huffman_all6\docs\generated_figures\paper_based_evaluation_performance_comparison_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GB"/>
              <a:t>AES Throughput at 100 MHz</a:t>
            </a:r>
          </a:p>
        </c:rich>
      </c:tx>
      <c:layout>
        <c:manualLayout>
          <c:xMode val="edge"/>
          <c:yMode val="edge"/>
          <c:x val="0.21891657292838396"/>
          <c:y val="3.1884057971014491E-2"/>
        </c:manualLayout>
      </c:layout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AES Throughput at 100 MHz</c:v>
          </c:tx>
          <c:spPr>
            <a:solidFill>
              <a:srgbClr val="F28C28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F28C28"/>
              </a:solidFill>
              <a:ln w="9525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CE30-423B-9977-2BAA7F234C89}"/>
              </c:ext>
            </c:extLst>
          </c:dPt>
          <c:dPt>
            <c:idx val="1"/>
            <c:invertIfNegative val="1"/>
            <c:bubble3D val="0"/>
            <c:spPr>
              <a:solidFill>
                <a:srgbClr val="3F7FCD"/>
              </a:solidFill>
              <a:ln w="9525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CE30-423B-9977-2BAA7F234C89}"/>
              </c:ext>
            </c:extLst>
          </c:dPt>
          <c:dPt>
            <c:idx val="2"/>
            <c:invertIfNegative val="1"/>
            <c:bubble3D val="0"/>
            <c:spPr>
              <a:solidFill>
                <a:srgbClr val="3F7FCD"/>
              </a:solidFill>
              <a:ln w="9525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5-CE30-423B-9977-2BAA7F234C89}"/>
              </c:ext>
            </c:extLst>
          </c:dPt>
          <c:dPt>
            <c:idx val="3"/>
            <c:invertIfNegative val="1"/>
            <c:bubble3D val="0"/>
            <c:spPr>
              <a:solidFill>
                <a:srgbClr val="3F7FCD"/>
              </a:solidFill>
              <a:ln w="9525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7-CE30-423B-9977-2BAA7F234C89}"/>
              </c:ext>
            </c:extLst>
          </c:dPt>
          <c:dPt>
            <c:idx val="4"/>
            <c:invertIfNegative val="1"/>
            <c:bubble3D val="0"/>
            <c:spPr>
              <a:solidFill>
                <a:srgbClr val="7B61FF"/>
              </a:solidFill>
              <a:ln w="9525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9-CE30-423B-9977-2BAA7F234C89}"/>
              </c:ext>
            </c:extLst>
          </c:dPt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Lit>
              <c:ptCount val="5"/>
              <c:pt idx="0">
                <c:v>Ours</c:v>
              </c:pt>
              <c:pt idx="1">
                <c:v>Good
low</c:v>
              </c:pt>
              <c:pt idx="2">
                <c:v>C&amp;G</c:v>
              </c:pt>
              <c:pt idx="3">
                <c:v>Rouv.</c:v>
              </c:pt>
              <c:pt idx="4">
                <c:v>OT</c:v>
              </c:pt>
            </c:strLit>
          </c:cat>
          <c:val>
            <c:numLit>
              <c:formatCode>0.0</c:formatCode>
              <c:ptCount val="5"/>
              <c:pt idx="0">
                <c:v>145.5</c:v>
              </c:pt>
              <c:pt idx="1">
                <c:v>0.4</c:v>
              </c:pt>
              <c:pt idx="2">
                <c:v>34.6</c:v>
              </c:pt>
              <c:pt idx="3">
                <c:v>36.6</c:v>
              </c:pt>
              <c:pt idx="4">
                <c:v>133.30000000000001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A-CE30-423B-9977-2BAA7F234C8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333333"/>
            </a:solidFill>
            <a:prstDash val="solid"/>
          </a:ln>
        </c:sp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80"/>
          <c:min val="0"/>
        </c:scaling>
        <c:delete val="0"/>
        <c:axPos val="l"/>
        <c:majorGridlines>
          <c:spPr>
            <a:ln w="9525">
              <a:solidFill>
                <a:srgbClr val="D9DEE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vi-VN"/>
                  <a:t>Throughput (MB/s)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333333"/>
            </a:solidFill>
            <a:prstDash val="solid"/>
          </a:ln>
        </c:spPr>
        <c:crossAx val="48650112"/>
        <c:crosses val="autoZero"/>
        <c:crossBetween val="between"/>
        <c:majorUnit val="36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  <c:txPr>
    <a:bodyPr/>
    <a:lstStyle/>
    <a:p>
      <a:pPr>
        <a:defRPr sz="2400" baseline="0"/>
      </a:pPr>
      <a:endParaRPr lang="vi-VN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vi-VN" b="1"/>
              <a:t>Huffman Efficiency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Huffman Efficiency</c:v>
          </c:tx>
          <c:spPr>
            <a:solidFill>
              <a:srgbClr val="F28C28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F28C28"/>
              </a:solidFill>
              <a:ln w="9525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C17C-42A6-B62A-600CD0E47F72}"/>
              </c:ext>
            </c:extLst>
          </c:dPt>
          <c:dPt>
            <c:idx val="1"/>
            <c:invertIfNegative val="1"/>
            <c:bubble3D val="0"/>
            <c:spPr>
              <a:solidFill>
                <a:srgbClr val="3F7FCD"/>
              </a:solidFill>
              <a:ln w="9525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C17C-42A6-B62A-600CD0E47F72}"/>
              </c:ext>
            </c:extLst>
          </c:dPt>
          <c:dPt>
            <c:idx val="2"/>
            <c:invertIfNegative val="1"/>
            <c:bubble3D val="0"/>
            <c:spPr>
              <a:solidFill>
                <a:srgbClr val="3F7FCD"/>
              </a:solidFill>
              <a:ln w="9525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5-C17C-42A6-B62A-600CD0E47F72}"/>
              </c:ext>
            </c:extLst>
          </c:dPt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Lit>
              <c:ptCount val="3"/>
              <c:pt idx="0">
                <c:v>Ours</c:v>
              </c:pt>
              <c:pt idx="1">
                <c:v>ASAP14-L</c:v>
              </c:pt>
              <c:pt idx="2">
                <c:v>ASAP14-T</c:v>
              </c:pt>
            </c:strLit>
          </c:cat>
          <c:val>
            <c:numLit>
              <c:formatCode>0.000</c:formatCode>
              <c:ptCount val="3"/>
              <c:pt idx="0">
                <c:v>9.4E-2</c:v>
              </c:pt>
              <c:pt idx="1">
                <c:v>2.1000000000000001E-2</c:v>
              </c:pt>
              <c:pt idx="2">
                <c:v>0.221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C17C-42A6-B62A-600CD0E47F7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333333"/>
            </a:solidFill>
            <a:prstDash val="solid"/>
          </a:ln>
        </c:sp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25"/>
          <c:min val="0"/>
        </c:scaling>
        <c:delete val="0"/>
        <c:axPos val="l"/>
        <c:majorGridlines>
          <c:spPr>
            <a:ln w="9525">
              <a:solidFill>
                <a:srgbClr val="D9DEE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vi-VN"/>
                  <a:t>Bytes/cycle</a:t>
                </a:r>
              </a:p>
            </c:rich>
          </c:tx>
          <c:overlay val="0"/>
        </c:title>
        <c:numFmt formatCode="0.000" sourceLinked="1"/>
        <c:majorTickMark val="none"/>
        <c:minorTickMark val="none"/>
        <c:tickLblPos val="nextTo"/>
        <c:spPr>
          <a:ln w="9525">
            <a:solidFill>
              <a:srgbClr val="333333"/>
            </a:solidFill>
            <a:prstDash val="solid"/>
          </a:ln>
        </c:spPr>
        <c:crossAx val="48650112"/>
        <c:crosses val="autoZero"/>
        <c:crossBetween val="between"/>
        <c:majorUnit val="0.05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  <c:txPr>
    <a:bodyPr/>
    <a:lstStyle/>
    <a:p>
      <a:pPr>
        <a:defRPr sz="2000"/>
      </a:pPr>
      <a:endParaRPr lang="vi-VN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vi-VN" b="1"/>
              <a:t>Compression + Encryption Input Throughput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Compression + Encryption Input Throughput</c:v>
          </c:tx>
          <c:spPr>
            <a:solidFill>
              <a:srgbClr val="F28C28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F28C28"/>
              </a:solidFill>
              <a:ln w="9525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12A2-4DC0-A4FD-0B9B35AFB5BC}"/>
              </c:ext>
            </c:extLst>
          </c:dPt>
          <c:dPt>
            <c:idx val="1"/>
            <c:invertIfNegative val="1"/>
            <c:bubble3D val="0"/>
            <c:spPr>
              <a:solidFill>
                <a:srgbClr val="D9534F"/>
              </a:solidFill>
              <a:ln w="9525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12A2-4DC0-A4FD-0B9B35AFB5BC}"/>
              </c:ext>
            </c:extLst>
          </c:dPt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Lit>
              <c:ptCount val="2"/>
              <c:pt idx="0">
                <c:v>Our Design
TX</c:v>
              </c:pt>
              <c:pt idx="1">
                <c:v>FGCS20
C+E</c:v>
              </c:pt>
            </c:strLit>
          </c:cat>
          <c:val>
            <c:numLit>
              <c:formatCode>0.0000</c:formatCode>
              <c:ptCount val="2"/>
              <c:pt idx="0">
                <c:v>4.5309999999999997</c:v>
              </c:pt>
              <c:pt idx="1">
                <c:v>5.4999999999999997E-3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12A2-4DC0-A4FD-0B9B35AFB5B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333333"/>
            </a:solidFill>
            <a:prstDash val="solid"/>
          </a:ln>
        </c:sp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w="9525">
              <a:solidFill>
                <a:srgbClr val="D9DEE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vi-VN"/>
                  <a:t>Input MB/s</a:t>
                </a:r>
              </a:p>
            </c:rich>
          </c:tx>
          <c:overlay val="0"/>
        </c:title>
        <c:numFmt formatCode="0.0000" sourceLinked="1"/>
        <c:majorTickMark val="none"/>
        <c:minorTickMark val="none"/>
        <c:tickLblPos val="nextTo"/>
        <c:spPr>
          <a:ln w="9525">
            <a:solidFill>
              <a:srgbClr val="333333"/>
            </a:solidFill>
            <a:prstDash val="solid"/>
          </a:ln>
        </c:spPr>
        <c:crossAx val="48650112"/>
        <c:crosses val="autoZero"/>
        <c:crossBetween val="between"/>
        <c:majorUnit val="1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  <c:txPr>
    <a:bodyPr/>
    <a:lstStyle/>
    <a:p>
      <a:pPr>
        <a:defRPr sz="2000"/>
      </a:pPr>
      <a:endParaRPr lang="vi-VN"/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GB" b="1"/>
              <a:t>Payload Saving on 18,019 Preprocessed ECG Bytes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Payload Saving on 18,019 Preprocessed ECG Bytes</c:v>
          </c:tx>
          <c:spPr>
            <a:solidFill>
              <a:srgbClr val="F28C28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F28C28"/>
              </a:solidFill>
              <a:ln w="9525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0D93-4DDE-965E-7F5D278D30BE}"/>
              </c:ext>
            </c:extLst>
          </c:dPt>
          <c:dPt>
            <c:idx val="1"/>
            <c:invertIfNegative val="1"/>
            <c:bubble3D val="0"/>
            <c:spPr>
              <a:solidFill>
                <a:srgbClr val="3F7FCD"/>
              </a:solidFill>
              <a:ln w="9525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0D93-4DDE-965E-7F5D278D30BE}"/>
              </c:ext>
            </c:extLst>
          </c:dPt>
          <c:dPt>
            <c:idx val="2"/>
            <c:invertIfNegative val="1"/>
            <c:bubble3D val="0"/>
            <c:spPr>
              <a:solidFill>
                <a:srgbClr val="2A9D8F"/>
              </a:solidFill>
              <a:ln w="9525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5-0D93-4DDE-965E-7F5D278D30BE}"/>
              </c:ext>
            </c:extLst>
          </c:dPt>
          <c:dPt>
            <c:idx val="3"/>
            <c:invertIfNegative val="1"/>
            <c:bubble3D val="0"/>
            <c:spPr>
              <a:solidFill>
                <a:srgbClr val="2A9D8F"/>
              </a:solidFill>
              <a:ln w="9525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7-0D93-4DDE-965E-7F5D278D30BE}"/>
              </c:ext>
            </c:extLst>
          </c:dPt>
          <c:dPt>
            <c:idx val="4"/>
            <c:invertIfNegative val="1"/>
            <c:bubble3D val="0"/>
            <c:spPr>
              <a:solidFill>
                <a:srgbClr val="2A9D8F"/>
              </a:solidFill>
              <a:ln w="9525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9-0D93-4DDE-965E-7F5D278D30BE}"/>
              </c:ext>
            </c:extLst>
          </c:dPt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Lit>
              <c:ptCount val="5"/>
              <c:pt idx="0">
                <c:v>Ours</c:v>
              </c:pt>
              <c:pt idx="1">
                <c:v>IJETT24
ECG</c:v>
              </c:pt>
              <c:pt idx="2">
                <c:v>zlib-9</c:v>
              </c:pt>
              <c:pt idx="3">
                <c:v>bz2-9</c:v>
              </c:pt>
              <c:pt idx="4">
                <c:v>lzma-6</c:v>
              </c:pt>
            </c:strLit>
          </c:cat>
          <c:val>
            <c:numLit>
              <c:formatCode>0.00</c:formatCode>
              <c:ptCount val="5"/>
              <c:pt idx="0">
                <c:v>44.28</c:v>
              </c:pt>
              <c:pt idx="1">
                <c:v>42</c:v>
              </c:pt>
              <c:pt idx="2">
                <c:v>41.16</c:v>
              </c:pt>
              <c:pt idx="3">
                <c:v>42.89</c:v>
              </c:pt>
              <c:pt idx="4">
                <c:v>44.99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A-0D93-4DDE-965E-7F5D278D30B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333333"/>
            </a:solidFill>
            <a:prstDash val="solid"/>
          </a:ln>
        </c:sp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46.5"/>
          <c:min val="38"/>
        </c:scaling>
        <c:delete val="0"/>
        <c:axPos val="l"/>
        <c:majorGridlines>
          <c:spPr>
            <a:ln w="9525">
              <a:solidFill>
                <a:srgbClr val="D9DEE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vi-VN"/>
                  <a:t>Saving (%)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333333"/>
            </a:solidFill>
            <a:prstDash val="solid"/>
          </a:ln>
        </c:spPr>
        <c:crossAx val="48650112"/>
        <c:crosses val="autoZero"/>
        <c:crossBetween val="between"/>
        <c:majorUnit val="1.7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  <c:txPr>
    <a:bodyPr/>
    <a:lstStyle/>
    <a:p>
      <a:pPr>
        <a:defRPr sz="2000"/>
      </a:pPr>
      <a:endParaRPr lang="vi-VN"/>
    </a:p>
  </c:tx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vi-VN" b="1"/>
              <a:t>Saved vs 36,000 Raw ECG Bytes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Saved vs 36,000 Raw ECG Bytes</c:v>
          </c:tx>
          <c:spPr>
            <a:solidFill>
              <a:srgbClr val="F28C28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F28C28"/>
              </a:solidFill>
              <a:ln w="9525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8485-4E00-8740-1C6DC0E83479}"/>
              </c:ext>
            </c:extLst>
          </c:dPt>
          <c:dPt>
            <c:idx val="1"/>
            <c:invertIfNegative val="1"/>
            <c:bubble3D val="0"/>
            <c:spPr>
              <a:solidFill>
                <a:srgbClr val="D9534F"/>
              </a:solidFill>
              <a:ln w="9525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8485-4E00-8740-1C6DC0E83479}"/>
              </c:ext>
            </c:extLst>
          </c:dPt>
          <c:dPt>
            <c:idx val="2"/>
            <c:invertIfNegative val="1"/>
            <c:bubble3D val="0"/>
            <c:spPr>
              <a:solidFill>
                <a:srgbClr val="2A9D8F"/>
              </a:solidFill>
              <a:ln w="9525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5-8485-4E00-8740-1C6DC0E83479}"/>
              </c:ext>
            </c:extLst>
          </c:dPt>
          <c:dPt>
            <c:idx val="3"/>
            <c:invertIfNegative val="1"/>
            <c:bubble3D val="0"/>
            <c:spPr>
              <a:solidFill>
                <a:srgbClr val="2A9D8F"/>
              </a:solidFill>
              <a:ln w="9525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7-8485-4E00-8740-1C6DC0E83479}"/>
              </c:ext>
            </c:extLst>
          </c:dPt>
          <c:dPt>
            <c:idx val="4"/>
            <c:invertIfNegative val="1"/>
            <c:bubble3D val="0"/>
            <c:spPr>
              <a:solidFill>
                <a:srgbClr val="2A9D8F"/>
              </a:solidFill>
              <a:ln w="9525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9-8485-4E00-8740-1C6DC0E83479}"/>
              </c:ext>
            </c:extLst>
          </c:dPt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Lit>
              <c:ptCount val="5"/>
              <c:pt idx="0">
                <c:v>Ours</c:v>
              </c:pt>
              <c:pt idx="1">
                <c:v>FGCS20
paper</c:v>
              </c:pt>
              <c:pt idx="2">
                <c:v>zlib-9</c:v>
              </c:pt>
              <c:pt idx="3">
                <c:v>bz2-9</c:v>
              </c:pt>
              <c:pt idx="4">
                <c:v>lzma-6</c:v>
              </c:pt>
            </c:strLit>
          </c:cat>
          <c:val>
            <c:numLit>
              <c:formatCode>0.00</c:formatCode>
              <c:ptCount val="5"/>
              <c:pt idx="0">
                <c:v>70.13</c:v>
              </c:pt>
              <c:pt idx="1">
                <c:v>64.98</c:v>
              </c:pt>
              <c:pt idx="2">
                <c:v>70.55</c:v>
              </c:pt>
              <c:pt idx="3">
                <c:v>71.41</c:v>
              </c:pt>
              <c:pt idx="4">
                <c:v>72.47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A-8485-4E00-8740-1C6DC0E8347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333333"/>
            </a:solidFill>
            <a:prstDash val="solid"/>
          </a:ln>
        </c:sp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74"/>
          <c:min val="62"/>
        </c:scaling>
        <c:delete val="0"/>
        <c:axPos val="l"/>
        <c:majorGridlines>
          <c:spPr>
            <a:ln w="9525">
              <a:solidFill>
                <a:srgbClr val="D9DEE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vi-VN"/>
                  <a:t>Saving (%)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333333"/>
            </a:solidFill>
            <a:prstDash val="solid"/>
          </a:ln>
        </c:spPr>
        <c:crossAx val="48650112"/>
        <c:crosses val="autoZero"/>
        <c:crossBetween val="between"/>
        <c:majorUnit val="2.4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  <c:txPr>
    <a:bodyPr/>
    <a:lstStyle/>
    <a:p>
      <a:pPr>
        <a:defRPr sz="2000"/>
      </a:pPr>
      <a:endParaRPr lang="vi-VN"/>
    </a:p>
  </c:tx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b="1"/>
              <a:t>Huffman</a:t>
            </a:r>
            <a:r>
              <a:rPr lang="en-GB" b="1" baseline="0"/>
              <a:t> </a:t>
            </a:r>
            <a:r>
              <a:rPr lang="en-GB" b="1"/>
              <a:t>Throughput at 100 MHz</a:t>
            </a:r>
          </a:p>
        </c:rich>
      </c:tx>
      <c:layout>
        <c:manualLayout>
          <c:xMode val="edge"/>
          <c:yMode val="edge"/>
          <c:x val="0.19467510482026121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vi-V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'Chart Data'!$A$2</c:f>
              <c:strCache>
                <c:ptCount val="1"/>
                <c:pt idx="0">
                  <c:v>Label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'Chart Data'!$A$21:$A$23</c:f>
              <c:strCache>
                <c:ptCount val="3"/>
                <c:pt idx="0">
                  <c:v>Ours</c:v>
                </c:pt>
                <c:pt idx="1">
                  <c:v>ASAP14-L</c:v>
                </c:pt>
                <c:pt idx="2">
                  <c:v>ASAP14-T</c:v>
                </c:pt>
              </c:strCache>
              <c:extLst/>
            </c:strRef>
          </c:cat>
          <c:val>
            <c:numRef>
              <c:f>'Chart Data'!$A$12:$A$14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263E-467F-994F-35D011C68A35}"/>
            </c:ext>
          </c:extLst>
        </c:ser>
        <c:ser>
          <c:idx val="1"/>
          <c:order val="1"/>
          <c:tx>
            <c:strRef>
              <c:f>'Chart Data'!$B$20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263E-467F-994F-35D011C68A3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'Chart Data'!$A$21:$A$23</c:f>
              <c:strCache>
                <c:ptCount val="3"/>
                <c:pt idx="0">
                  <c:v>Ours</c:v>
                </c:pt>
                <c:pt idx="1">
                  <c:v>ASAP14-L</c:v>
                </c:pt>
                <c:pt idx="2">
                  <c:v>ASAP14-T</c:v>
                </c:pt>
              </c:strCache>
              <c:extLst/>
            </c:strRef>
          </c:cat>
          <c:val>
            <c:numRef>
              <c:f>'Chart Data'!$B$21:$B$23</c:f>
              <c:numCache>
                <c:formatCode>0.0</c:formatCode>
                <c:ptCount val="3"/>
                <c:pt idx="0">
                  <c:v>9.4</c:v>
                </c:pt>
                <c:pt idx="1">
                  <c:v>2.1</c:v>
                </c:pt>
                <c:pt idx="2">
                  <c:v>22.1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3-263E-467F-994F-35D011C68A3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207545343"/>
        <c:axId val="1204678735"/>
      </c:barChart>
      <c:catAx>
        <c:axId val="1207545343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1204678735"/>
        <c:crosses val="autoZero"/>
        <c:auto val="1"/>
        <c:lblAlgn val="ctr"/>
        <c:lblOffset val="100"/>
        <c:noMultiLvlLbl val="0"/>
      </c:catAx>
      <c:valAx>
        <c:axId val="12046787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Input  MB/s</a:t>
                </a:r>
                <a:endParaRPr lang="vi-V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vi-V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12075453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FFFFFF"/>
      </a:solidFill>
    </a:ln>
    <a:effectLst/>
  </c:spPr>
  <c:txPr>
    <a:bodyPr/>
    <a:lstStyle/>
    <a:p>
      <a:pPr>
        <a:defRPr sz="2000"/>
      </a:pPr>
      <a:endParaRPr lang="vi-V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vi-VN" b="1"/>
              <a:t>Hardware Baselines - AES Efficiency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vi-V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'Chart Data'!$A$2</c:f>
              <c:strCache>
                <c:ptCount val="1"/>
                <c:pt idx="0">
                  <c:v>Label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'Chart Data'!$A$12:$A$16</c:f>
              <c:strCache>
                <c:ptCount val="5"/>
                <c:pt idx="0">
                  <c:v>Ours</c:v>
                </c:pt>
                <c:pt idx="1">
                  <c:v>Good low</c:v>
                </c:pt>
                <c:pt idx="2">
                  <c:v>C&amp;G</c:v>
                </c:pt>
                <c:pt idx="3">
                  <c:v>Rouv.</c:v>
                </c:pt>
                <c:pt idx="4">
                  <c:v>OT</c:v>
                </c:pt>
              </c:strCache>
            </c:strRef>
          </c:cat>
          <c:val>
            <c:numRef>
              <c:f>'Chart Data'!$A$21:$A$24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13-4793-A9DF-BCEA7D04DB53}"/>
            </c:ext>
          </c:extLst>
        </c:ser>
        <c:ser>
          <c:idx val="1"/>
          <c:order val="1"/>
          <c:tx>
            <c:strRef>
              <c:f>'Chart Data'!$B$11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413-4793-A9DF-BCEA7D04DB53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6413-4793-A9DF-BCEA7D04DB53}"/>
              </c:ext>
            </c:extLst>
          </c:dPt>
          <c:dPt>
            <c:idx val="4"/>
            <c:invertIfNegative val="0"/>
            <c:bubble3D val="0"/>
            <c:spPr>
              <a:solidFill>
                <a:srgbClr val="9685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6413-4793-A9DF-BCEA7D04DB53}"/>
              </c:ext>
            </c:extLst>
          </c:dPt>
          <c:dLbls>
            <c:dLbl>
              <c:idx val="1"/>
              <c:layout>
                <c:manualLayout>
                  <c:x val="-4.0874732141765908E-3"/>
                  <c:y val="8.2080934817827713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413-4793-A9DF-BCEA7D04DB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Data'!$A$12:$A$16</c:f>
              <c:strCache>
                <c:ptCount val="5"/>
                <c:pt idx="0">
                  <c:v>Ours</c:v>
                </c:pt>
                <c:pt idx="1">
                  <c:v>Good low</c:v>
                </c:pt>
                <c:pt idx="2">
                  <c:v>C&amp;G</c:v>
                </c:pt>
                <c:pt idx="3">
                  <c:v>Rouv.</c:v>
                </c:pt>
                <c:pt idx="4">
                  <c:v>OT</c:v>
                </c:pt>
              </c:strCache>
            </c:strRef>
          </c:cat>
          <c:val>
            <c:numRef>
              <c:f>'Chart Data'!$B$12:$B$16</c:f>
              <c:numCache>
                <c:formatCode>0.000</c:formatCode>
                <c:ptCount val="5"/>
                <c:pt idx="0">
                  <c:v>1.4550000000000001</c:v>
                </c:pt>
                <c:pt idx="1">
                  <c:v>4.0000000000000001E-3</c:v>
                </c:pt>
                <c:pt idx="2">
                  <c:v>0.34599999999999997</c:v>
                </c:pt>
                <c:pt idx="3">
                  <c:v>0.36599999999999999</c:v>
                </c:pt>
                <c:pt idx="4">
                  <c:v>1.333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6413-4793-A9DF-BCEA7D04DB5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207545343"/>
        <c:axId val="1204678735"/>
      </c:barChart>
      <c:catAx>
        <c:axId val="1207545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1204678735"/>
        <c:crosses val="autoZero"/>
        <c:auto val="1"/>
        <c:lblAlgn val="ctr"/>
        <c:lblOffset val="100"/>
        <c:noMultiLvlLbl val="0"/>
      </c:catAx>
      <c:valAx>
        <c:axId val="12046787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vi-VN"/>
                  <a:t>input MB/s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vi-V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>
                <a:lumMod val="95000"/>
                <a:lumOff val="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12075453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/>
      </a:pPr>
      <a:endParaRPr lang="vi-V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u="s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Relationship Id="rId9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ck-title">
            <a:extLst>
              <a:ext uri="{FF2B5EF4-FFF2-40B4-BE49-F238E27FC236}">
                <a16:creationId xmlns:a16="http://schemas.microsoft.com/office/drawing/2014/main" id="{9CB9EBAE-332B-40B8-9A38-A6A4E530F9BD}"/>
              </a:ext>
            </a:extLst>
          </p:cNvPr>
          <p:cNvSpPr>
            <a:spLocks noGrp="1"/>
          </p:cNvSpPr>
          <p:nvPr/>
        </p:nvSpPr>
        <p:spPr>
          <a:xfrm>
            <a:off x="0" y="209550"/>
            <a:ext cx="22860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Evaluation and Performance Comparison</a:t>
            </a:r>
          </a:p>
        </p:txBody>
      </p:sp>
      <p:sp>
        <p:nvSpPr>
          <p:cNvPr id="2" name="hardware-section">
            <a:extLst>
              <a:ext uri="{FF2B5EF4-FFF2-40B4-BE49-F238E27FC236}">
                <a16:creationId xmlns:a16="http://schemas.microsoft.com/office/drawing/2014/main" id="{30CF4C7F-EA3A-486D-A0FF-BA6042D6C88A}"/>
              </a:ext>
            </a:extLst>
          </p:cNvPr>
          <p:cNvSpPr>
            <a:spLocks noGrp="1"/>
          </p:cNvSpPr>
          <p:nvPr/>
        </p:nvSpPr>
        <p:spPr>
          <a:xfrm>
            <a:off x="0" y="876300"/>
            <a:ext cx="2286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Hardware Baselines</a:t>
            </a:r>
          </a:p>
        </p:txBody>
      </p:sp>
      <p:sp>
        <p:nvSpPr>
          <p:cNvPr id="3" name="software-section">
            <a:extLst>
              <a:ext uri="{FF2B5EF4-FFF2-40B4-BE49-F238E27FC236}">
                <a16:creationId xmlns:a16="http://schemas.microsoft.com/office/drawing/2014/main" id="{B82DFF44-B515-4957-B109-FE6E3E97E971}"/>
              </a:ext>
            </a:extLst>
          </p:cNvPr>
          <p:cNvSpPr>
            <a:spLocks noGrp="1"/>
          </p:cNvSpPr>
          <p:nvPr/>
        </p:nvSpPr>
        <p:spPr>
          <a:xfrm>
            <a:off x="0" y="6267450"/>
            <a:ext cx="2286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Software and Paper Baselines</a:t>
            </a:r>
          </a:p>
        </p:txBody>
      </p:sp>
      <p:graphicFrame>
        <p:nvGraphicFramePr>
          <p:cNvPr id="25" name="Chart"/>
          <p:cNvGraphicFramePr/>
          <p:nvPr>
            <p:extLst>
              <p:ext uri="{D42A27DB-BD31-4B8C-83A1-F6EECF244321}">
                <p14:modId xmlns:p14="http://schemas.microsoft.com/office/powerpoint/2010/main" val="1498013872"/>
              </p:ext>
            </p:extLst>
          </p:nvPr>
        </p:nvGraphicFramePr>
        <p:xfrm>
          <a:off x="104777" y="1626190"/>
          <a:ext cx="5334000" cy="4381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8" name="Chart"/>
          <p:cNvGraphicFramePr/>
          <p:nvPr>
            <p:extLst>
              <p:ext uri="{D42A27DB-BD31-4B8C-83A1-F6EECF244321}">
                <p14:modId xmlns:p14="http://schemas.microsoft.com/office/powerpoint/2010/main" val="1439713489"/>
              </p:ext>
            </p:extLst>
          </p:nvPr>
        </p:nvGraphicFramePr>
        <p:xfrm>
          <a:off x="17287875" y="1428750"/>
          <a:ext cx="5095875" cy="4381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9" name="Chart"/>
          <p:cNvGraphicFramePr/>
          <p:nvPr>
            <p:extLst>
              <p:ext uri="{D42A27DB-BD31-4B8C-83A1-F6EECF244321}">
                <p14:modId xmlns:p14="http://schemas.microsoft.com/office/powerpoint/2010/main" val="2690529551"/>
              </p:ext>
            </p:extLst>
          </p:nvPr>
        </p:nvGraphicFramePr>
        <p:xfrm>
          <a:off x="666750" y="6781800"/>
          <a:ext cx="6477000" cy="4667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0" name="Chart"/>
          <p:cNvGraphicFramePr/>
          <p:nvPr>
            <p:extLst>
              <p:ext uri="{D42A27DB-BD31-4B8C-83A1-F6EECF244321}">
                <p14:modId xmlns:p14="http://schemas.microsoft.com/office/powerpoint/2010/main" val="1740150152"/>
              </p:ext>
            </p:extLst>
          </p:nvPr>
        </p:nvGraphicFramePr>
        <p:xfrm>
          <a:off x="7524750" y="6781800"/>
          <a:ext cx="6667500" cy="4667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1" name="Chart"/>
          <p:cNvGraphicFramePr/>
          <p:nvPr>
            <p:extLst>
              <p:ext uri="{D42A27DB-BD31-4B8C-83A1-F6EECF244321}">
                <p14:modId xmlns:p14="http://schemas.microsoft.com/office/powerpoint/2010/main" val="3106096822"/>
              </p:ext>
            </p:extLst>
          </p:nvPr>
        </p:nvGraphicFramePr>
        <p:xfrm>
          <a:off x="14573250" y="6781800"/>
          <a:ext cx="7334250" cy="4667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1" name="legend-swatch-0-0">
            <a:extLst>
              <a:ext uri="{FF2B5EF4-FFF2-40B4-BE49-F238E27FC236}">
                <a16:creationId xmlns:a16="http://schemas.microsoft.com/office/drawing/2014/main" id="{28791072-05C1-4496-A822-B73CCA003B03}"/>
              </a:ext>
            </a:extLst>
          </p:cNvPr>
          <p:cNvSpPr>
            <a:spLocks noGrp="1"/>
          </p:cNvSpPr>
          <p:nvPr/>
        </p:nvSpPr>
        <p:spPr>
          <a:xfrm>
            <a:off x="5090160" y="11677650"/>
            <a:ext cx="323850" cy="228600"/>
          </a:xfrm>
          <a:prstGeom prst="rect">
            <a:avLst/>
          </a:prstGeom>
          <a:solidFill>
            <a:srgbClr val="F28C28"/>
          </a:solidFill>
          <a:ln w="19050">
            <a:solidFill>
              <a:srgbClr val="F28C28"/>
            </a:solidFill>
            <a:prstDash val="solid"/>
          </a:ln>
        </p:spPr>
      </p:sp>
      <p:sp>
        <p:nvSpPr>
          <p:cNvPr id="12" name="legend-label-0-0">
            <a:extLst>
              <a:ext uri="{FF2B5EF4-FFF2-40B4-BE49-F238E27FC236}">
                <a16:creationId xmlns:a16="http://schemas.microsoft.com/office/drawing/2014/main" id="{EC5F0786-EDC1-4336-AED6-52E488F1AC4A}"/>
              </a:ext>
            </a:extLst>
          </p:cNvPr>
          <p:cNvSpPr>
            <a:spLocks noGrp="1"/>
          </p:cNvSpPr>
          <p:nvPr/>
        </p:nvSpPr>
        <p:spPr>
          <a:xfrm>
            <a:off x="5600700" y="11609705"/>
            <a:ext cx="256794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Our Design</a:t>
            </a:r>
          </a:p>
        </p:txBody>
      </p:sp>
      <p:sp>
        <p:nvSpPr>
          <p:cNvPr id="13" name="legend-swatch-0-1">
            <a:extLst>
              <a:ext uri="{FF2B5EF4-FFF2-40B4-BE49-F238E27FC236}">
                <a16:creationId xmlns:a16="http://schemas.microsoft.com/office/drawing/2014/main" id="{0BB53E46-90F8-455A-84E2-486B92DFAB31}"/>
              </a:ext>
            </a:extLst>
          </p:cNvPr>
          <p:cNvSpPr>
            <a:spLocks noGrp="1"/>
          </p:cNvSpPr>
          <p:nvPr/>
        </p:nvSpPr>
        <p:spPr>
          <a:xfrm>
            <a:off x="10198610" y="11698923"/>
            <a:ext cx="323850" cy="228600"/>
          </a:xfrm>
          <a:prstGeom prst="rect">
            <a:avLst/>
          </a:prstGeom>
          <a:solidFill>
            <a:srgbClr val="3F7FCD"/>
          </a:solidFill>
          <a:ln w="19050">
            <a:solidFill>
              <a:srgbClr val="3F7FCD"/>
            </a:solidFill>
            <a:prstDash val="solid"/>
          </a:ln>
        </p:spPr>
      </p:sp>
      <p:sp>
        <p:nvSpPr>
          <p:cNvPr id="14" name="legend-label-0-1">
            <a:extLst>
              <a:ext uri="{FF2B5EF4-FFF2-40B4-BE49-F238E27FC236}">
                <a16:creationId xmlns:a16="http://schemas.microsoft.com/office/drawing/2014/main" id="{7951F893-B5FF-4032-816F-5528DD3260B1}"/>
              </a:ext>
            </a:extLst>
          </p:cNvPr>
          <p:cNvSpPr>
            <a:spLocks noGrp="1"/>
          </p:cNvSpPr>
          <p:nvPr/>
        </p:nvSpPr>
        <p:spPr>
          <a:xfrm>
            <a:off x="10652677" y="11639550"/>
            <a:ext cx="645032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vi-VN" sz="24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official AES IP</a:t>
            </a:r>
            <a:r>
              <a:rPr lang="en-GB" sz="24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 [1] [3]</a:t>
            </a:r>
            <a:endParaRPr sz="2400" b="1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legend-swatch-0-2">
            <a:extLst>
              <a:ext uri="{FF2B5EF4-FFF2-40B4-BE49-F238E27FC236}">
                <a16:creationId xmlns:a16="http://schemas.microsoft.com/office/drawing/2014/main" id="{AE76A0EF-651D-4F8C-B77A-DD339461BA44}"/>
              </a:ext>
            </a:extLst>
          </p:cNvPr>
          <p:cNvSpPr>
            <a:spLocks noGrp="1"/>
          </p:cNvSpPr>
          <p:nvPr/>
        </p:nvSpPr>
        <p:spPr>
          <a:xfrm>
            <a:off x="15512415" y="11744325"/>
            <a:ext cx="323850" cy="228600"/>
          </a:xfrm>
          <a:prstGeom prst="rect">
            <a:avLst/>
          </a:prstGeom>
          <a:solidFill>
            <a:srgbClr val="7B61FF"/>
          </a:solidFill>
          <a:ln w="19050">
            <a:solidFill>
              <a:srgbClr val="7B61FF"/>
            </a:solidFill>
            <a:prstDash val="solid"/>
          </a:ln>
        </p:spPr>
      </p:sp>
      <p:sp>
        <p:nvSpPr>
          <p:cNvPr id="16" name="legend-label-0-2">
            <a:extLst>
              <a:ext uri="{FF2B5EF4-FFF2-40B4-BE49-F238E27FC236}">
                <a16:creationId xmlns:a16="http://schemas.microsoft.com/office/drawing/2014/main" id="{CB793EC0-462D-40DE-8E82-A9F4DE109B27}"/>
              </a:ext>
            </a:extLst>
          </p:cNvPr>
          <p:cNvSpPr>
            <a:spLocks noGrp="1"/>
          </p:cNvSpPr>
          <p:nvPr/>
        </p:nvSpPr>
        <p:spPr>
          <a:xfrm>
            <a:off x="15950564" y="11658600"/>
            <a:ext cx="5408881" cy="457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vi-VN" sz="24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[3][4] Huffman hardware papers</a:t>
            </a:r>
            <a:endParaRPr sz="2400" b="1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legend-swatch-1-0">
            <a:extLst>
              <a:ext uri="{FF2B5EF4-FFF2-40B4-BE49-F238E27FC236}">
                <a16:creationId xmlns:a16="http://schemas.microsoft.com/office/drawing/2014/main" id="{A4A14FDB-1AA6-467F-845B-64D2359DF2B9}"/>
              </a:ext>
            </a:extLst>
          </p:cNvPr>
          <p:cNvSpPr>
            <a:spLocks noGrp="1"/>
          </p:cNvSpPr>
          <p:nvPr/>
        </p:nvSpPr>
        <p:spPr>
          <a:xfrm>
            <a:off x="5600700" y="12358052"/>
            <a:ext cx="323850" cy="314325"/>
          </a:xfrm>
          <a:prstGeom prst="rect">
            <a:avLst/>
          </a:prstGeom>
          <a:solidFill>
            <a:srgbClr val="2A9D8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8" name="legend-label-1-0">
            <a:extLst>
              <a:ext uri="{FF2B5EF4-FFF2-40B4-BE49-F238E27FC236}">
                <a16:creationId xmlns:a16="http://schemas.microsoft.com/office/drawing/2014/main" id="{4E1D3EB4-582D-4350-9709-1E01BC928869}"/>
              </a:ext>
            </a:extLst>
          </p:cNvPr>
          <p:cNvSpPr>
            <a:spLocks noGrp="1"/>
          </p:cNvSpPr>
          <p:nvPr/>
        </p:nvSpPr>
        <p:spPr>
          <a:xfrm>
            <a:off x="6058855" y="12332335"/>
            <a:ext cx="563689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Standard-library compressors</a:t>
            </a:r>
          </a:p>
        </p:txBody>
      </p:sp>
      <p:sp>
        <p:nvSpPr>
          <p:cNvPr id="19" name="legend-swatch-1-1">
            <a:extLst>
              <a:ext uri="{FF2B5EF4-FFF2-40B4-BE49-F238E27FC236}">
                <a16:creationId xmlns:a16="http://schemas.microsoft.com/office/drawing/2014/main" id="{BCE7FAF9-F8A1-43B0-8051-CCF653A16432}"/>
              </a:ext>
            </a:extLst>
          </p:cNvPr>
          <p:cNvSpPr>
            <a:spLocks noGrp="1"/>
          </p:cNvSpPr>
          <p:nvPr/>
        </p:nvSpPr>
        <p:spPr>
          <a:xfrm>
            <a:off x="11678605" y="12344400"/>
            <a:ext cx="323850" cy="228600"/>
          </a:xfrm>
          <a:prstGeom prst="rect">
            <a:avLst/>
          </a:prstGeom>
          <a:solidFill>
            <a:srgbClr val="D9534F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20" name="legend-label-1-1">
            <a:extLst>
              <a:ext uri="{FF2B5EF4-FFF2-40B4-BE49-F238E27FC236}">
                <a16:creationId xmlns:a16="http://schemas.microsoft.com/office/drawing/2014/main" id="{14F88B6D-C531-4B12-A272-D2C78512925A}"/>
              </a:ext>
            </a:extLst>
          </p:cNvPr>
          <p:cNvSpPr>
            <a:spLocks noGrp="1"/>
          </p:cNvSpPr>
          <p:nvPr/>
        </p:nvSpPr>
        <p:spPr>
          <a:xfrm>
            <a:off x="12158662" y="12315825"/>
            <a:ext cx="670750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vi-VN" sz="24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[5][6] ECG compression/encryption papers.</a:t>
            </a:r>
            <a:endParaRPr sz="2400" b="1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source-note">
            <a:extLst>
              <a:ext uri="{FF2B5EF4-FFF2-40B4-BE49-F238E27FC236}">
                <a16:creationId xmlns:a16="http://schemas.microsoft.com/office/drawing/2014/main" id="{4722DE67-1493-43F1-8FC5-4FB124A692FB}"/>
              </a:ext>
            </a:extLst>
          </p:cNvPr>
          <p:cNvSpPr>
            <a:spLocks noGrp="1"/>
          </p:cNvSpPr>
          <p:nvPr/>
        </p:nvSpPr>
        <p:spPr>
          <a:xfrm>
            <a:off x="904875" y="12906375"/>
            <a:ext cx="21050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>
              <a:lnSpc>
                <a:spcPct val="90000"/>
              </a:lnSpc>
              <a:defRPr sz="14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lang="vi-VN" sz="2000">
                <a:solidFill>
                  <a:srgbClr val="4B5563"/>
                </a:solidFill>
                <a:latin typeface="Arial"/>
                <a:ea typeface="Arial"/>
                <a:cs typeface="Arial"/>
              </a:rPr>
              <a:t>References: [1] Good &amp; Benaissa, CHES 2005. [2] OpenTitan AES HWIP. [3] Matai et al., ASAP 2014. [4] Guguloth et al., Results in Engineering, 2025. [5] Hameed et al., FGCS 2020. [6] Zarate Segura et al., IJETT 2024. Note: Throughput is normalized to 100 MHz where possible; efficiency is reported as bytes/cycle. FPGA/platform and input size differ across references.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9BB54BC-D4ED-4F95-9084-D60FA6FDB5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6511595"/>
              </p:ext>
            </p:extLst>
          </p:nvPr>
        </p:nvGraphicFramePr>
        <p:xfrm>
          <a:off x="10911753" y="1495425"/>
          <a:ext cx="6560993" cy="42525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1817011-C039-2911-FE90-FDBD7DD3C9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8747053"/>
              </p:ext>
            </p:extLst>
          </p:nvPr>
        </p:nvGraphicFramePr>
        <p:xfrm>
          <a:off x="5033012" y="1504950"/>
          <a:ext cx="6214108" cy="4286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50357277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195</Words>
  <Application>Microsoft Office PowerPoint</Application>
  <DocSecurity>0</DocSecurity>
  <PresentationFormat>Custom</PresentationFormat>
  <Paragraphs>24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 _</cp:lastModifiedBy>
  <cp:revision>7</cp:revision>
  <dcterms:created xsi:type="dcterms:W3CDTF">2026-07-04T07:43:28Z</dcterms:created>
  <dcterms:modified xsi:type="dcterms:W3CDTF">2026-07-04T09:12:29Z</dcterms:modified>
</cp:coreProperties>
</file>