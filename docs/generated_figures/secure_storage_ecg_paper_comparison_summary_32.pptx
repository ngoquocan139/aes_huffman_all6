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70e03f36349a1" /><Relationship Type="http://schemas.openxmlformats.org/officeDocument/2006/relationships/extended-properties" Target="/docProps/app.xml" Id="Rfacc3143629f4ded" /><Relationship Type="http://schemas.openxmlformats.org/officeDocument/2006/relationships/officeDocument" Target="/ppt/presentation.xml" Id="Rd47c0495552e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9eb77a6fb4175"/>
  </p:sldMasterIdLst>
  <p:notesMasterIdLst>
    <p:notesMasterId xmlns:r="http://schemas.openxmlformats.org/officeDocument/2006/relationships" r:id="Rd6ab3ed7a789473d"/>
  </p:notesMasterIdLst>
  <p:sldIdLst>
    <p:sldId xmlns:r="http://schemas.openxmlformats.org/officeDocument/2006/relationships" id="256" r:id="R8afc9a61d15f45e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09a17e8eab48bd" /><Relationship Type="http://schemas.openxmlformats.org/officeDocument/2006/relationships/slideMaster" Target="/ppt/slideMasters/slideMaster1.xml" Id="Rd5e9eb77a6fb4175" /><Relationship Type="http://schemas.openxmlformats.org/officeDocument/2006/relationships/notesMaster" Target="/ppt/notesMasters/notesMaster1.xml" Id="Rd6ab3ed7a789473d" /><Relationship Type="http://schemas.openxmlformats.org/officeDocument/2006/relationships/presProps" Target="/ppt/presProps.xml" Id="Rdd45e33f194244e1" /><Relationship Type="http://schemas.openxmlformats.org/officeDocument/2006/relationships/tableStyles" Target="/ppt/tableStyles.xml" Id="Rba82e4cbf10a4876" /><Relationship Type="http://schemas.openxmlformats.org/officeDocument/2006/relationships/slide" Target="/ppt/slides/slide1.xml" Id="R8afc9a61d15f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ed808ed83246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d09d1ce884e81" /><Relationship Type="http://schemas.openxmlformats.org/officeDocument/2006/relationships/notesMaster" Target="/ppt/notesMasters/notesMaster1.xml" Id="Re90d6bbc486f45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81643059944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030c20a2b44cae" /><Relationship Type="http://schemas.openxmlformats.org/officeDocument/2006/relationships/slideLayout" Target="/ppt/slideLayouts/slideLayout1.xml" Id="R725a9f03d986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5a9f03d986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b32ce8bff4bbd" /><Relationship Type="http://schemas.openxmlformats.org/officeDocument/2006/relationships/image" Target="/ppt/media/image.png" Id="R4bf56aeb7907403b" /><Relationship Type="http://schemas.openxmlformats.org/officeDocument/2006/relationships/notesSlide" Target="/ppt/notesSlides/notesSlide1.xml" Id="Rcd035ff0863946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ogo-circle">
            <a:extLst xmlns:a="http://schemas.openxmlformats.org/drawingml/2006/main">
              <a:ext uri="{FF2B5EF4-FFF2-40B4-BE49-F238E27FC236}">
                <a16:creationId xmlns:a16="http://schemas.microsoft.com/office/drawing/2014/main" id="{58F1C30A-EE4C-4E36-A8D8-823C4130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8D9"/>
            </a:solidFill>
            <a:prstDash val="solid"/>
          </a:ln>
        </p:spPr>
      </p:sp>
      <p:sp>
        <p:nvSpPr>
          <p:cNvPr id="2" name="logo-c">
            <a:extLst xmlns:a="http://schemas.openxmlformats.org/drawingml/2006/main">
              <a:ext uri="{FF2B5EF4-FFF2-40B4-BE49-F238E27FC236}">
                <a16:creationId xmlns:a16="http://schemas.microsoft.com/office/drawing/2014/main" id="{582A1F5A-5F6C-4FAE-9FC7-F987F4F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68D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8D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uni">
            <a:extLst xmlns:a="http://schemas.openxmlformats.org/drawingml/2006/main">
              <a:ext uri="{FF2B5EF4-FFF2-40B4-BE49-F238E27FC236}">
                <a16:creationId xmlns:a16="http://schemas.microsoft.com/office/drawing/2014/main" id="{ABD29BD5-B545-4CD4-82C1-E71BD997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6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HO CHI MINH CITY UNIVERSITY OF TECHNOLOGY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6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AND EDUCATION</a:t>
            </a:r>
          </a:p>
        </p:txBody>
      </p:sp>
      <p:sp>
        <p:nvSpPr>
          <p:cNvPr id="4" name="uni-sub">
            <a:extLst xmlns:a="http://schemas.openxmlformats.org/drawingml/2006/main">
              <a:ext uri="{FF2B5EF4-FFF2-40B4-BE49-F238E27FC236}">
                <a16:creationId xmlns:a16="http://schemas.microsoft.com/office/drawing/2014/main" id="{F2CD5D9F-9EA5-46D3-AED7-1B8C55CF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52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8A"/>
                </a:solidFill>
                <a:latin typeface="Arial"/>
                <a:ea typeface="Arial"/>
                <a:cs typeface="Arial"/>
              </a:rPr>
              <a:t>HCMC University of Technology and Education</a:t>
            </a:r>
          </a:p>
        </p:txBody>
      </p:sp>
      <p:sp>
        <p:nvSpPr>
          <p:cNvPr id="5" name="section-band">
            <a:extLst xmlns:a="http://schemas.openxmlformats.org/drawingml/2006/main">
              <a:ext uri="{FF2B5EF4-FFF2-40B4-BE49-F238E27FC236}">
                <a16:creationId xmlns:a16="http://schemas.microsoft.com/office/drawing/2014/main" id="{BCCB15A7-288A-420F-8BF9-8D8FBB38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28750"/>
            <a:ext cx="8858250" cy="704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FAFF"/>
          </a:solidFill>
          <a:ln xmlns:a="http://schemas.openxmlformats.org/drawingml/2006/main" w="19050">
            <a:solidFill>
              <a:srgbClr val="10A6C8"/>
            </a:solidFill>
            <a:prstDash val="solid"/>
          </a:ln>
        </p:spPr>
        <p:txBody>
          <a:bodyPr xmlns:a="http://schemas.openxmlformats.org/drawingml/2006/main" lIns="238125" tIns="0" rIns="11430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DESIGN QUALITY EVALUATION</a:t>
            </a:r>
          </a:p>
        </p:txBody>
      </p:sp>
      <p:sp>
        <p:nvSpPr>
          <p:cNvPr id="6" name="left-title">
            <a:extLst xmlns:a="http://schemas.openxmlformats.org/drawingml/2006/main">
              <a:ext uri="{FF2B5EF4-FFF2-40B4-BE49-F238E27FC236}">
                <a16:creationId xmlns:a16="http://schemas.microsoft.com/office/drawing/2014/main" id="{F3CBEA58-40EA-468D-AF5E-693B7C39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RTL/FPGA Run Evidence</a:t>
            </a:r>
          </a:p>
        </p:txBody>
      </p:sp>
      <p:sp>
        <p:nvSpPr>
          <p:cNvPr id="7" name="left-sub">
            <a:extLst xmlns:a="http://schemas.openxmlformats.org/drawingml/2006/main">
              <a:ext uri="{FF2B5EF4-FFF2-40B4-BE49-F238E27FC236}">
                <a16:creationId xmlns:a16="http://schemas.microsoft.com/office/drawing/2014/main" id="{B1B98312-4BDD-46D4-BDF7-05BFB24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Secure-storage workload on MIT-BIH ECG records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56aeb7907403b"/>
          <a:stretch xmlns:a="http://schemas.openxmlformats.org/drawingml/2006/main"/>
        </p:blipFill>
        <p:spPr>
          <a:xfrm xmlns:a="http://schemas.openxmlformats.org/drawingml/2006/main">
            <a:off x="666750" y="3551767"/>
            <a:ext cx="7429500" cy="3412067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kpi-0">
            <a:extLst xmlns:a="http://schemas.openxmlformats.org/drawingml/2006/main">
              <a:ext uri="{FF2B5EF4-FFF2-40B4-BE49-F238E27FC236}">
                <a16:creationId xmlns:a16="http://schemas.microsoft.com/office/drawing/2014/main" id="{FD25D948-D192-4311-B620-B8414B8C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10" name="kpi-value-0">
            <a:extLst xmlns:a="http://schemas.openxmlformats.org/drawingml/2006/main">
              <a:ext uri="{FF2B5EF4-FFF2-40B4-BE49-F238E27FC236}">
                <a16:creationId xmlns:a16="http://schemas.microsoft.com/office/drawing/2014/main" id="{9E75F335-7FAE-46A1-B484-E2ED70B0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1045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29.87%</a:t>
            </a:r>
          </a:p>
        </p:txBody>
      </p:sp>
      <p:sp>
        <p:nvSpPr>
          <p:cNvPr id="11" name="kpi-label-0">
            <a:extLst xmlns:a="http://schemas.openxmlformats.org/drawingml/2006/main">
              <a:ext uri="{FF2B5EF4-FFF2-40B4-BE49-F238E27FC236}">
                <a16:creationId xmlns:a16="http://schemas.microsoft.com/office/drawing/2014/main" id="{BFDA781F-CC11-432D-A2D6-665CE1DC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9438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final ratio</a:t>
            </a:r>
          </a:p>
        </p:txBody>
      </p:sp>
      <p:sp>
        <p:nvSpPr>
          <p:cNvPr id="12" name="kpi-1">
            <a:extLst xmlns:a="http://schemas.openxmlformats.org/drawingml/2006/main">
              <a:ext uri="{FF2B5EF4-FFF2-40B4-BE49-F238E27FC236}">
                <a16:creationId xmlns:a16="http://schemas.microsoft.com/office/drawing/2014/main" id="{37AE08A0-6B3E-4030-87AB-36869AF9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39000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13" name="kpi-value-1">
            <a:extLst xmlns:a="http://schemas.openxmlformats.org/drawingml/2006/main">
              <a:ext uri="{FF2B5EF4-FFF2-40B4-BE49-F238E27FC236}">
                <a16:creationId xmlns:a16="http://schemas.microsoft.com/office/drawing/2014/main" id="{19240395-D84B-405A-B71E-0A7C56A2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41045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70.13%</a:t>
            </a:r>
          </a:p>
        </p:txBody>
      </p:sp>
      <p:sp>
        <p:nvSpPr>
          <p:cNvPr id="14" name="kpi-label-1">
            <a:extLst xmlns:a="http://schemas.openxmlformats.org/drawingml/2006/main">
              <a:ext uri="{FF2B5EF4-FFF2-40B4-BE49-F238E27FC236}">
                <a16:creationId xmlns:a16="http://schemas.microsoft.com/office/drawing/2014/main" id="{A31B7038-0BB4-4BB4-A7BB-F5F80EAD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9438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space saving</a:t>
            </a:r>
          </a:p>
        </p:txBody>
      </p:sp>
      <p:sp>
        <p:nvSpPr>
          <p:cNvPr id="15" name="kpi-2">
            <a:extLst xmlns:a="http://schemas.openxmlformats.org/drawingml/2006/main">
              <a:ext uri="{FF2B5EF4-FFF2-40B4-BE49-F238E27FC236}">
                <a16:creationId xmlns:a16="http://schemas.microsoft.com/office/drawing/2014/main" id="{9F8FB84E-FF6F-48E7-95A9-BA70D8E1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239000"/>
            <a:ext cx="223837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</p:sp>
      <p:sp>
        <p:nvSpPr>
          <p:cNvPr id="16" name="kpi-value-2">
            <a:extLst xmlns:a="http://schemas.openxmlformats.org/drawingml/2006/main">
              <a:ext uri="{FF2B5EF4-FFF2-40B4-BE49-F238E27FC236}">
                <a16:creationId xmlns:a16="http://schemas.microsoft.com/office/drawing/2014/main" id="{B8C54B46-4D76-47E0-A02A-7302882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410450"/>
            <a:ext cx="2238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7" name="kpi-label-2">
            <a:extLst xmlns:a="http://schemas.openxmlformats.org/drawingml/2006/main">
              <a:ext uri="{FF2B5EF4-FFF2-40B4-BE49-F238E27FC236}">
                <a16:creationId xmlns:a16="http://schemas.microsoft.com/office/drawing/2014/main" id="{7BA14BE3-55A2-4B3E-A952-A6D0A91F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9438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6758A"/>
                </a:solidFill>
                <a:latin typeface="Arial"/>
                <a:ea typeface="Arial"/>
                <a:cs typeface="Arial"/>
              </a:rPr>
              <a:t>byte match</a:t>
            </a:r>
          </a:p>
        </p:txBody>
      </p:sp>
      <p:sp>
        <p:nvSpPr>
          <p:cNvPr id="18" name="right-title">
            <a:extLst xmlns:a="http://schemas.openxmlformats.org/drawingml/2006/main">
              <a:ext uri="{FF2B5EF4-FFF2-40B4-BE49-F238E27FC236}">
                <a16:creationId xmlns:a16="http://schemas.microsoft.com/office/drawing/2014/main" id="{3C49B0C1-8F80-4BF7-BB93-56088514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Comparison Summary</a:t>
            </a:r>
          </a:p>
        </p:txBody>
      </p:sp>
      <p:sp>
        <p:nvSpPr>
          <p:cNvPr id="19" name="right-sub">
            <a:extLst xmlns:a="http://schemas.openxmlformats.org/drawingml/2006/main">
              <a:ext uri="{FF2B5EF4-FFF2-40B4-BE49-F238E27FC236}">
                <a16:creationId xmlns:a16="http://schemas.microsoft.com/office/drawing/2014/main" id="{E0706475-1A09-423C-A081-C9814D35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Paper baseline: ECG Huffman + CBC-AES [1]</a:t>
            </a:r>
          </a:p>
        </p:txBody>
      </p:sp>
      <p:sp>
        <p:nvSpPr>
          <p:cNvPr id="20" name="head-0-box">
            <a:extLst xmlns:a="http://schemas.openxmlformats.org/drawingml/2006/main">
              <a:ext uri="{FF2B5EF4-FFF2-40B4-BE49-F238E27FC236}">
                <a16:creationId xmlns:a16="http://schemas.microsoft.com/office/drawing/2014/main" id="{76A440A1-8F67-44F1-B593-6720FB65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1" name="head-1-box">
            <a:extLst xmlns:a="http://schemas.openxmlformats.org/drawingml/2006/main">
              <a:ext uri="{FF2B5EF4-FFF2-40B4-BE49-F238E27FC236}">
                <a16:creationId xmlns:a16="http://schemas.microsoft.com/office/drawing/2014/main" id="{50ECF1AA-2B4E-42FD-9835-0297A976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433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Paper [1]</a:t>
            </a:r>
          </a:p>
        </p:txBody>
      </p:sp>
      <p:sp>
        <p:nvSpPr>
          <p:cNvPr id="22" name="head-2-box">
            <a:extLst xmlns:a="http://schemas.openxmlformats.org/drawingml/2006/main">
              <a:ext uri="{FF2B5EF4-FFF2-40B4-BE49-F238E27FC236}">
                <a16:creationId xmlns:a16="http://schemas.microsoft.com/office/drawing/2014/main" id="{5B99EB7F-B7CA-4A7E-8761-0681B572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5433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This Work</a:t>
            </a:r>
          </a:p>
        </p:txBody>
      </p:sp>
      <p:sp>
        <p:nvSpPr>
          <p:cNvPr id="23" name="head-3-box">
            <a:extLst xmlns:a="http://schemas.openxmlformats.org/drawingml/2006/main">
              <a:ext uri="{FF2B5EF4-FFF2-40B4-BE49-F238E27FC236}">
                <a16:creationId xmlns:a16="http://schemas.microsoft.com/office/drawing/2014/main" id="{8A280CCE-05ED-461E-9FD9-0D5D11C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543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3B9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3B9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4" name="row-0-0-box">
            <a:extLst xmlns:a="http://schemas.openxmlformats.org/drawingml/2006/main">
              <a:ext uri="{FF2B5EF4-FFF2-40B4-BE49-F238E27FC236}">
                <a16:creationId xmlns:a16="http://schemas.microsoft.com/office/drawing/2014/main" id="{C0EDF33B-4D65-4E78-80A1-6A5366B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529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Final ratio</a:t>
            </a:r>
          </a:p>
        </p:txBody>
      </p:sp>
      <p:sp>
        <p:nvSpPr>
          <p:cNvPr id="25" name="row-0-1-box">
            <a:extLst xmlns:a="http://schemas.openxmlformats.org/drawingml/2006/main">
              <a:ext uri="{FF2B5EF4-FFF2-40B4-BE49-F238E27FC236}">
                <a16:creationId xmlns:a16="http://schemas.microsoft.com/office/drawing/2014/main" id="{A4BB475E-1940-40F1-8F07-CFB41AEE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529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35.015%</a:t>
            </a:r>
          </a:p>
        </p:txBody>
      </p:sp>
      <p:sp>
        <p:nvSpPr>
          <p:cNvPr id="26" name="row-0-2-box">
            <a:extLst xmlns:a="http://schemas.openxmlformats.org/drawingml/2006/main">
              <a:ext uri="{FF2B5EF4-FFF2-40B4-BE49-F238E27FC236}">
                <a16:creationId xmlns:a16="http://schemas.microsoft.com/office/drawing/2014/main" id="{99AB24DE-07D3-4637-83B6-F4F89C13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1529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29.87%</a:t>
            </a:r>
          </a:p>
        </p:txBody>
      </p:sp>
      <p:sp>
        <p:nvSpPr>
          <p:cNvPr id="27" name="row-0-3-box">
            <a:extLst xmlns:a="http://schemas.openxmlformats.org/drawingml/2006/main">
              <a:ext uri="{FF2B5EF4-FFF2-40B4-BE49-F238E27FC236}">
                <a16:creationId xmlns:a16="http://schemas.microsoft.com/office/drawing/2014/main" id="{41B7B0EA-DAB2-414F-B807-80B1D45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41529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+14.69%</a:t>
            </a:r>
          </a:p>
        </p:txBody>
      </p:sp>
      <p:sp>
        <p:nvSpPr>
          <p:cNvPr id="28" name="row-1-0-box">
            <a:extLst xmlns:a="http://schemas.openxmlformats.org/drawingml/2006/main">
              <a:ext uri="{FF2B5EF4-FFF2-40B4-BE49-F238E27FC236}">
                <a16:creationId xmlns:a16="http://schemas.microsoft.com/office/drawing/2014/main" id="{D4E9C61F-F09B-452E-967F-6435D607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Space saving</a:t>
            </a:r>
          </a:p>
        </p:txBody>
      </p:sp>
      <p:sp>
        <p:nvSpPr>
          <p:cNvPr id="29" name="row-1-1-box">
            <a:extLst xmlns:a="http://schemas.openxmlformats.org/drawingml/2006/main">
              <a:ext uri="{FF2B5EF4-FFF2-40B4-BE49-F238E27FC236}">
                <a16:creationId xmlns:a16="http://schemas.microsoft.com/office/drawing/2014/main" id="{C31A4CFC-4E71-43C6-B306-8616537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57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64.985%</a:t>
            </a:r>
          </a:p>
        </p:txBody>
      </p:sp>
      <p:sp>
        <p:nvSpPr>
          <p:cNvPr id="30" name="row-1-2-box">
            <a:extLst xmlns:a="http://schemas.openxmlformats.org/drawingml/2006/main">
              <a:ext uri="{FF2B5EF4-FFF2-40B4-BE49-F238E27FC236}">
                <a16:creationId xmlns:a16="http://schemas.microsoft.com/office/drawing/2014/main" id="{7F10E8B5-481F-49D3-BA6B-A07FF6C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8577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70.13%</a:t>
            </a:r>
          </a:p>
        </p:txBody>
      </p:sp>
      <p:sp>
        <p:nvSpPr>
          <p:cNvPr id="31" name="row-1-3-box">
            <a:extLst xmlns:a="http://schemas.openxmlformats.org/drawingml/2006/main">
              <a:ext uri="{FF2B5EF4-FFF2-40B4-BE49-F238E27FC236}">
                <a16:creationId xmlns:a16="http://schemas.microsoft.com/office/drawing/2014/main" id="{32CAC4A4-1C89-4A5B-8963-C957E891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48577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+7.92%</a:t>
            </a:r>
          </a:p>
        </p:txBody>
      </p:sp>
      <p:sp>
        <p:nvSpPr>
          <p:cNvPr id="32" name="row-2-0-box">
            <a:extLst xmlns:a="http://schemas.openxmlformats.org/drawingml/2006/main">
              <a:ext uri="{FF2B5EF4-FFF2-40B4-BE49-F238E27FC236}">
                <a16:creationId xmlns:a16="http://schemas.microsoft.com/office/drawing/2014/main" id="{70D5F452-98C7-4C15-A902-E7402B8A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626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Huff. comp.</a:t>
            </a:r>
          </a:p>
        </p:txBody>
      </p:sp>
      <p:sp>
        <p:nvSpPr>
          <p:cNvPr id="33" name="row-2-1-box">
            <a:extLst xmlns:a="http://schemas.openxmlformats.org/drawingml/2006/main">
              <a:ext uri="{FF2B5EF4-FFF2-40B4-BE49-F238E27FC236}">
                <a16:creationId xmlns:a16="http://schemas.microsoft.com/office/drawing/2014/main" id="{C38D4050-778F-4128-BD9A-F58BCE4F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626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~3.8641 s</a:t>
            </a:r>
          </a:p>
        </p:txBody>
      </p:sp>
      <p:sp>
        <p:nvSpPr>
          <p:cNvPr id="34" name="row-2-2-box">
            <a:extLst xmlns:a="http://schemas.openxmlformats.org/drawingml/2006/main">
              <a:ext uri="{FF2B5EF4-FFF2-40B4-BE49-F238E27FC236}">
                <a16:creationId xmlns:a16="http://schemas.microsoft.com/office/drawing/2014/main" id="{D72CC126-6430-4BEF-9369-15D0A12E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55626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1.056 ms</a:t>
            </a:r>
          </a:p>
        </p:txBody>
      </p:sp>
      <p:sp>
        <p:nvSpPr>
          <p:cNvPr id="35" name="row-2-3-box">
            <a:extLst xmlns:a="http://schemas.openxmlformats.org/drawingml/2006/main">
              <a:ext uri="{FF2B5EF4-FFF2-40B4-BE49-F238E27FC236}">
                <a16:creationId xmlns:a16="http://schemas.microsoft.com/office/drawing/2014/main" id="{78C6F892-FE47-41F5-9922-2AD613EB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5562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+99.97%</a:t>
            </a:r>
          </a:p>
        </p:txBody>
      </p:sp>
      <p:sp>
        <p:nvSpPr>
          <p:cNvPr id="36" name="row-3-0-box">
            <a:extLst xmlns:a="http://schemas.openxmlformats.org/drawingml/2006/main">
              <a:ext uri="{FF2B5EF4-FFF2-40B4-BE49-F238E27FC236}">
                <a16:creationId xmlns:a16="http://schemas.microsoft.com/office/drawing/2014/main" id="{C3E57734-2973-4D53-A158-1114C348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674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Huff. decomp.</a:t>
            </a:r>
          </a:p>
        </p:txBody>
      </p:sp>
      <p:sp>
        <p:nvSpPr>
          <p:cNvPr id="37" name="row-3-1-box">
            <a:extLst xmlns:a="http://schemas.openxmlformats.org/drawingml/2006/main">
              <a:ext uri="{FF2B5EF4-FFF2-40B4-BE49-F238E27FC236}">
                <a16:creationId xmlns:a16="http://schemas.microsoft.com/office/drawing/2014/main" id="{3F1158BA-07DE-438B-AA4A-2916A84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~0.5818 s</a:t>
            </a:r>
          </a:p>
        </p:txBody>
      </p:sp>
      <p:sp>
        <p:nvSpPr>
          <p:cNvPr id="38" name="row-3-2-box">
            <a:extLst xmlns:a="http://schemas.openxmlformats.org/drawingml/2006/main">
              <a:ext uri="{FF2B5EF4-FFF2-40B4-BE49-F238E27FC236}">
                <a16:creationId xmlns:a16="http://schemas.microsoft.com/office/drawing/2014/main" id="{52245BB1-1E48-4B19-9499-1A42FCD3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2674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0.483 ms</a:t>
            </a:r>
          </a:p>
        </p:txBody>
      </p:sp>
      <p:sp>
        <p:nvSpPr>
          <p:cNvPr id="39" name="row-3-3-box">
            <a:extLst xmlns:a="http://schemas.openxmlformats.org/drawingml/2006/main">
              <a:ext uri="{FF2B5EF4-FFF2-40B4-BE49-F238E27FC236}">
                <a16:creationId xmlns:a16="http://schemas.microsoft.com/office/drawing/2014/main" id="{A3EDABED-1547-4936-B849-07A9A5C7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6267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+99.92%</a:t>
            </a:r>
          </a:p>
        </p:txBody>
      </p:sp>
      <p:sp>
        <p:nvSpPr>
          <p:cNvPr id="40" name="row-4-0-box">
            <a:extLst xmlns:a="http://schemas.openxmlformats.org/drawingml/2006/main">
              <a:ext uri="{FF2B5EF4-FFF2-40B4-BE49-F238E27FC236}">
                <a16:creationId xmlns:a16="http://schemas.microsoft.com/office/drawing/2014/main" id="{45C4F17B-A62C-44C5-8C79-FDF864A1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723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AES encrypt</a:t>
            </a:r>
          </a:p>
        </p:txBody>
      </p:sp>
      <p:sp>
        <p:nvSpPr>
          <p:cNvPr id="41" name="row-4-1-box">
            <a:extLst xmlns:a="http://schemas.openxmlformats.org/drawingml/2006/main">
              <a:ext uri="{FF2B5EF4-FFF2-40B4-BE49-F238E27FC236}">
                <a16:creationId xmlns:a16="http://schemas.microsoft.com/office/drawing/2014/main" id="{AFB405C4-B950-4677-BE22-19AD54F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972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~2.7106 s</a:t>
            </a:r>
          </a:p>
        </p:txBody>
      </p:sp>
      <p:sp>
        <p:nvSpPr>
          <p:cNvPr id="42" name="row-4-2-box">
            <a:extLst xmlns:a="http://schemas.openxmlformats.org/drawingml/2006/main">
              <a:ext uri="{FF2B5EF4-FFF2-40B4-BE49-F238E27FC236}">
                <a16:creationId xmlns:a16="http://schemas.microsoft.com/office/drawing/2014/main" id="{A989C40B-EC6D-4E80-91A5-F379FF7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72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29.6 us</a:t>
            </a:r>
          </a:p>
        </p:txBody>
      </p:sp>
      <p:sp>
        <p:nvSpPr>
          <p:cNvPr id="43" name="row-4-3-box">
            <a:extLst xmlns:a="http://schemas.openxmlformats.org/drawingml/2006/main">
              <a:ext uri="{FF2B5EF4-FFF2-40B4-BE49-F238E27FC236}">
                <a16:creationId xmlns:a16="http://schemas.microsoft.com/office/drawing/2014/main" id="{AC46E6B5-6F82-4092-B4E2-20833A32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69723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+99.999%</a:t>
            </a:r>
          </a:p>
        </p:txBody>
      </p:sp>
      <p:sp>
        <p:nvSpPr>
          <p:cNvPr id="44" name="row-5-0-box">
            <a:extLst xmlns:a="http://schemas.openxmlformats.org/drawingml/2006/main">
              <a:ext uri="{FF2B5EF4-FFF2-40B4-BE49-F238E27FC236}">
                <a16:creationId xmlns:a16="http://schemas.microsoft.com/office/drawing/2014/main" id="{AA129C4B-F80D-475A-A81F-34EE493F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771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AES decrypt</a:t>
            </a:r>
          </a:p>
        </p:txBody>
      </p:sp>
      <p:sp>
        <p:nvSpPr>
          <p:cNvPr id="45" name="row-5-1-box">
            <a:extLst xmlns:a="http://schemas.openxmlformats.org/drawingml/2006/main">
              <a:ext uri="{FF2B5EF4-FFF2-40B4-BE49-F238E27FC236}">
                <a16:creationId xmlns:a16="http://schemas.microsoft.com/office/drawing/2014/main" id="{05047248-BEDD-481A-8741-98E30154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677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~3.0449 s</a:t>
            </a:r>
          </a:p>
        </p:txBody>
      </p:sp>
      <p:sp>
        <p:nvSpPr>
          <p:cNvPr id="46" name="row-5-2-box">
            <a:extLst xmlns:a="http://schemas.openxmlformats.org/drawingml/2006/main">
              <a:ext uri="{FF2B5EF4-FFF2-40B4-BE49-F238E27FC236}">
                <a16:creationId xmlns:a16="http://schemas.microsoft.com/office/drawing/2014/main" id="{AE56D188-796A-4AB2-8002-B6E8A6AD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67715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69.2 us</a:t>
            </a:r>
          </a:p>
        </p:txBody>
      </p:sp>
      <p:sp>
        <p:nvSpPr>
          <p:cNvPr id="47" name="row-5-3-box">
            <a:extLst xmlns:a="http://schemas.openxmlformats.org/drawingml/2006/main">
              <a:ext uri="{FF2B5EF4-FFF2-40B4-BE49-F238E27FC236}">
                <a16:creationId xmlns:a16="http://schemas.microsoft.com/office/drawing/2014/main" id="{C3550556-C479-456C-BDAC-75AB37C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76771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+99.998%</a:t>
            </a:r>
          </a:p>
        </p:txBody>
      </p:sp>
      <p:sp>
        <p:nvSpPr>
          <p:cNvPr id="48" name="row-6-0-box">
            <a:extLst xmlns:a="http://schemas.openxmlformats.org/drawingml/2006/main">
              <a:ext uri="{FF2B5EF4-FFF2-40B4-BE49-F238E27FC236}">
                <a16:creationId xmlns:a16="http://schemas.microsoft.com/office/drawing/2014/main" id="{776AF447-2DFB-4D4C-8D86-D84C4A86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2033"/>
                </a:solidFill>
                <a:latin typeface="Arial"/>
                <a:ea typeface="Arial"/>
                <a:cs typeface="Arial"/>
              </a:rPr>
              <a:t>Readback</a:t>
            </a:r>
          </a:p>
        </p:txBody>
      </p:sp>
      <p:sp>
        <p:nvSpPr>
          <p:cNvPr id="49" name="row-6-1-box">
            <a:extLst xmlns:a="http://schemas.openxmlformats.org/drawingml/2006/main">
              <a:ext uri="{FF2B5EF4-FFF2-40B4-BE49-F238E27FC236}">
                <a16:creationId xmlns:a16="http://schemas.microsoft.com/office/drawing/2014/main" id="{E83ED08B-9E2D-4C68-B66C-7B6012C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3820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PRD 0.411</a:t>
            </a:r>
          </a:p>
        </p:txBody>
      </p:sp>
      <p:sp>
        <p:nvSpPr>
          <p:cNvPr id="50" name="row-6-2-box">
            <a:extLst xmlns:a="http://schemas.openxmlformats.org/drawingml/2006/main">
              <a:ext uri="{FF2B5EF4-FFF2-40B4-BE49-F238E27FC236}">
                <a16:creationId xmlns:a16="http://schemas.microsoft.com/office/drawing/2014/main" id="{8DE38BA2-6EFB-476D-B88C-AE797425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83820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0">
                <a:solidFill>
                  <a:srgbClr val="13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32033"/>
                </a:solidFill>
                <a:latin typeface="Arial"/>
                <a:ea typeface="Arial"/>
                <a:cs typeface="Arial"/>
              </a:rPr>
              <a:t>0 mismatch</a:t>
            </a:r>
          </a:p>
        </p:txBody>
      </p:sp>
      <p:sp>
        <p:nvSpPr>
          <p:cNvPr id="51" name="row-6-3-box">
            <a:extLst xmlns:a="http://schemas.openxmlformats.org/drawingml/2006/main">
              <a:ext uri="{FF2B5EF4-FFF2-40B4-BE49-F238E27FC236}">
                <a16:creationId xmlns:a16="http://schemas.microsoft.com/office/drawing/2014/main" id="{19D396B8-548F-4C9F-9E84-339B9CD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83820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9E6"/>
            </a:solidFill>
            <a:prstDash val="solid"/>
          </a:ln>
        </p:spPr>
        <p:txBody>
          <a:bodyPr xmlns:a="http://schemas.openxmlformats.org/drawingml/2006/main" wrap="square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lnSpc>
                <a:spcPct val="82000"/>
              </a:lnSpc>
              <a:buNone/>
              <a:defRPr sz="2400" b="1">
                <a:solidFill>
                  <a:srgbClr val="099A8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9A82"/>
                </a:solidFill>
                <a:latin typeface="Arial"/>
                <a:ea typeface="Arial"/>
                <a:cs typeface="Arial"/>
              </a:rPr>
              <a:t>100% match</a:t>
            </a:r>
          </a:p>
        </p:txBody>
      </p:sp>
      <p:sp>
        <p:nvSpPr>
          <p:cNvPr id="52" name="footer-blue">
            <a:extLst xmlns:a="http://schemas.openxmlformats.org/drawingml/2006/main">
              <a:ext uri="{FF2B5EF4-FFF2-40B4-BE49-F238E27FC236}">
                <a16:creationId xmlns:a16="http://schemas.microsoft.com/office/drawing/2014/main" id="{55BA7068-31AF-4F9B-B528-20EAA20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448800"/>
            <a:ext cx="1647825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0068D9"/>
          </a:solidFill>
          <a:ln xmlns:a="http://schemas.openxmlformats.org/drawingml/2006/main" w="19050">
            <a:solidFill>
              <a:srgbClr val="003B91"/>
            </a:solidFill>
            <a:prstDash val="solid"/>
          </a:ln>
        </p:spPr>
      </p:sp>
      <p:sp>
        <p:nvSpPr>
          <p:cNvPr id="53" name="footer-red">
            <a:extLst xmlns:a="http://schemas.openxmlformats.org/drawingml/2006/main">
              <a:ext uri="{FF2B5EF4-FFF2-40B4-BE49-F238E27FC236}">
                <a16:creationId xmlns:a16="http://schemas.microsoft.com/office/drawing/2014/main" id="{1BA6B93E-7286-40C3-BB64-2941837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448800"/>
            <a:ext cx="857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2D3A"/>
          </a:solidFill>
          <a:ln xmlns:a="http://schemas.openxmlformats.org/drawingml/2006/main" w="19050">
            <a:solidFill>
              <a:srgbClr val="F22D3A"/>
            </a:solidFill>
            <a:prstDash val="solid"/>
          </a:ln>
        </p:spPr>
      </p:sp>
      <p:sp>
        <p:nvSpPr>
          <p:cNvPr id="5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96B939F0-6C03-4E06-B5E8-2CF71231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610725"/>
            <a:ext cx="1581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type: MIT-BIH ECG records | Avg input: 3603.8 bytes/record | Raw reference: 7200 bytes/record</a:t>
            </a:r>
          </a:p>
        </p:txBody>
      </p:sp>
      <p:sp>
        <p:nvSpPr>
          <p:cNvPr id="55" name="source">
            <a:extLst xmlns:a="http://schemas.openxmlformats.org/drawingml/2006/main">
              <a:ext uri="{FF2B5EF4-FFF2-40B4-BE49-F238E27FC236}">
                <a16:creationId xmlns:a16="http://schemas.microsoft.com/office/drawing/2014/main" id="{4E7E8B9B-2D93-4F72-9468-A1D246C1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582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00" b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8A"/>
                </a:solidFill>
                <a:latin typeface="Arial"/>
                <a:ea typeface="Arial"/>
                <a:cs typeface="Arial"/>
              </a:rPr>
              <a:t>[1] FGCS 2019 ECG Huffman + CBC-AES paper. Paper platform: MATLAB 2018a, Windows 7 64-bit, i5 2nd Gen, 8 GB RAM.</a:t>
            </a:r>
          </a:p>
        </p:txBody>
      </p:sp>
    </p:spTree>
    <p:extLst>
      <p:ext uri="{BB962C8B-B14F-4D97-AF65-F5344CB8AC3E}">
        <p14:creationId xmlns:p14="http://schemas.microsoft.com/office/powerpoint/2010/main" val="1151706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2026-07-02T12:38:14.3520000Z</dcterms:created>
  <dcterms:modified xsi:type="dcterms:W3CDTF">2026-07-02T12:38:14.3520000Z</dcterms:modified>
</coreProperties>
</file>