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4c2960ed9940ed" /><Relationship Type="http://schemas.openxmlformats.org/officeDocument/2006/relationships/extended-properties" Target="/docProps/app.xml" Id="Rc042b0c8a1bc421d" /><Relationship Type="http://schemas.openxmlformats.org/officeDocument/2006/relationships/officeDocument" Target="/ppt/presentation.xml" Id="R907a7f6ab30248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775a374f2244b9"/>
  </p:sldMasterIdLst>
  <p:notesMasterIdLst>
    <p:notesMasterId xmlns:r="http://schemas.openxmlformats.org/officeDocument/2006/relationships" r:id="Rc083044313b54fd2"/>
  </p:notesMasterIdLst>
  <p:sldIdLst>
    <p:sldId xmlns:r="http://schemas.openxmlformats.org/officeDocument/2006/relationships" id="256" r:id="R2eb12922bda6477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fe94d2a4f4d31" /><Relationship Type="http://schemas.openxmlformats.org/officeDocument/2006/relationships/slideMaster" Target="/ppt/slideMasters/slideMaster1.xml" Id="Rce775a374f2244b9" /><Relationship Type="http://schemas.openxmlformats.org/officeDocument/2006/relationships/notesMaster" Target="/ppt/notesMasters/notesMaster1.xml" Id="Rc083044313b54fd2" /><Relationship Type="http://schemas.openxmlformats.org/officeDocument/2006/relationships/presProps" Target="/ppt/presProps.xml" Id="Rf074000df8c645ac" /><Relationship Type="http://schemas.openxmlformats.org/officeDocument/2006/relationships/tableStyles" Target="/ppt/tableStyles.xml" Id="R932b8e7320db43e7" /><Relationship Type="http://schemas.openxmlformats.org/officeDocument/2006/relationships/slide" Target="/ppt/slides/slide1.xml" Id="R2eb12922bda6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c3777c343848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a453484b214f99" /><Relationship Type="http://schemas.openxmlformats.org/officeDocument/2006/relationships/notesMaster" Target="/ppt/notesMasters/notesMaster1.xml" Id="R05aaca70d387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8d90729ae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82fa7ca4ac43f6" /><Relationship Type="http://schemas.openxmlformats.org/officeDocument/2006/relationships/slideLayout" Target="/ppt/slideLayouts/slideLayout1.xml" Id="R1fee815cd3f94b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ee815cd3f94b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22db59e8f4d70" /><Relationship Type="http://schemas.openxmlformats.org/officeDocument/2006/relationships/notesSlide" Target="/ppt/notesSlides/notesSlide1.xml" Id="R53919d13f88b4f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F757624-1BD3-40EB-A6E6-5E02F0A5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1190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3B8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3B8E"/>
                </a:solidFill>
                <a:latin typeface="Arial"/>
                <a:ea typeface="Arial"/>
                <a:cs typeface="Arial"/>
              </a:rPr>
              <a:t>Expanded RV32I SoC Architecture for Secure Storage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A06CE3-E118-476B-B5BF-8E4D5D0C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2000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CPU controls the accelerator through APB/MMIO; TX and RX data movement is handled by dedicated DMA datapaths.</a:t>
            </a:r>
          </a:p>
        </p:txBody>
      </p:sp>
      <p:sp>
        <p:nvSpPr>
          <p:cNvPr id="3" name="pl-boundary">
            <a:extLst xmlns:a="http://schemas.openxmlformats.org/drawingml/2006/main">
              <a:ext uri="{FF2B5EF4-FFF2-40B4-BE49-F238E27FC236}">
                <a16:creationId xmlns:a16="http://schemas.microsoft.com/office/drawing/2014/main" id="{AABF6B73-1021-42AF-9702-4FC70AEB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17430750" cy="8334375"/>
          </a:xfrm>
          <a:prstGeom xmlns:a="http://schemas.openxmlformats.org/drawingml/2006/main" prst="roundRect">
            <a:avLst>
              <a:gd name="adj" fmla="val 91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D8EA8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pl-label">
            <a:extLst xmlns:a="http://schemas.openxmlformats.org/drawingml/2006/main">
              <a:ext uri="{FF2B5EF4-FFF2-40B4-BE49-F238E27FC236}">
                <a16:creationId xmlns:a16="http://schemas.microsoft.com/office/drawing/2014/main" id="{087ABC9D-F701-4BBF-9BCD-8867D464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Zynq UltraScale+ PL: custom RV32I SoC + secure-storage accelerator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B6F2EF3D-74DB-44FF-82D3-EF210B6D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24300"/>
            <a:ext cx="1476375" cy="16668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63CE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clk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rst_n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uart_rx_i</a:t>
            </a:r>
          </a:p>
        </p:txBody>
      </p:sp>
      <p:sp>
        <p:nvSpPr>
          <p:cNvPr id="6" name="cpu">
            <a:extLst xmlns:a="http://schemas.openxmlformats.org/drawingml/2006/main">
              <a:ext uri="{FF2B5EF4-FFF2-40B4-BE49-F238E27FC236}">
                <a16:creationId xmlns:a16="http://schemas.microsoft.com/office/drawing/2014/main" id="{4CD22DE3-C50F-4578-BBA8-5860CDAF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1714500" cy="2190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19050">
            <a:solidFill>
              <a:srgbClr val="073B8E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CPU Core</a:t>
            </a:r>
          </a:p>
          <a:p xmlns:a="http://schemas.openxmlformats.org/drawingml/2006/main">
            <a:pPr algn="ctr">
              <a:defRPr sz="180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RV32I</a:t>
            </a:r>
          </a:p>
        </p:txBody>
      </p:sp>
      <p:sp>
        <p:nvSpPr>
          <p:cNvPr id="7" name="input-to-cpu">
            <a:extLst xmlns:a="http://schemas.openxmlformats.org/drawingml/2006/main">
              <a:ext uri="{FF2B5EF4-FFF2-40B4-BE49-F238E27FC236}">
                <a16:creationId xmlns:a16="http://schemas.microsoft.com/office/drawing/2014/main" id="{B5A96ABA-35FD-46DF-9893-CCD22D6E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962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9525">
            <a:solidFill>
              <a:srgbClr val="0B63CE"/>
            </a:solidFill>
            <a:prstDash val="solid"/>
          </a:ln>
        </p:spPr>
      </p:sp>
      <p:sp>
        <p:nvSpPr>
          <p:cNvPr id="8" name="apb-interface">
            <a:extLst xmlns:a="http://schemas.openxmlformats.org/drawingml/2006/main">
              <a:ext uri="{FF2B5EF4-FFF2-40B4-BE49-F238E27FC236}">
                <a16:creationId xmlns:a16="http://schemas.microsoft.com/office/drawing/2014/main" id="{E49E3FFB-0217-4085-B70C-228A626E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133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3B8E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APB</a:t>
            </a:r>
          </a:p>
          <a:p xmlns:a="http://schemas.openxmlformats.org/drawingml/2006/main">
            <a:pPr algn="ctr">
              <a:defRPr sz="157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9" name="cpu-to-apb">
            <a:extLst xmlns:a="http://schemas.openxmlformats.org/drawingml/2006/main">
              <a:ext uri="{FF2B5EF4-FFF2-40B4-BE49-F238E27FC236}">
                <a16:creationId xmlns:a16="http://schemas.microsoft.com/office/drawing/2014/main" id="{A1FFC521-C9FA-4ACA-8E44-8F0C82ED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0075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3B8E"/>
          </a:solidFill>
          <a:ln xmlns:a="http://schemas.openxmlformats.org/drawingml/2006/main" w="9525">
            <a:solidFill>
              <a:srgbClr val="073B8E"/>
            </a:solidFill>
            <a:prstDash val="solid"/>
          </a:ln>
        </p:spPr>
      </p:sp>
      <p:sp>
        <p:nvSpPr>
          <p:cNvPr id="10" name="cpu-apb-notes">
            <a:extLst xmlns:a="http://schemas.openxmlformats.org/drawingml/2006/main">
              <a:ext uri="{FF2B5EF4-FFF2-40B4-BE49-F238E27FC236}">
                <a16:creationId xmlns:a16="http://schemas.microsoft.com/office/drawing/2014/main" id="{F21A1642-AAEC-46D3-94F8-9849A95B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48125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rs2 / alu_result</a:t>
            </a:r>
          </a:p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DMEM write enable</a:t>
            </a:r>
          </a:p>
        </p:txBody>
      </p:sp>
      <p:sp>
        <p:nvSpPr>
          <p:cNvPr id="11" name="dma-register">
            <a:extLst xmlns:a="http://schemas.openxmlformats.org/drawingml/2006/main">
              <a:ext uri="{FF2B5EF4-FFF2-40B4-BE49-F238E27FC236}">
                <a16:creationId xmlns:a16="http://schemas.microsoft.com/office/drawing/2014/main" id="{62671667-4959-496B-811F-ABF1D18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905000" cy="2667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9050">
            <a:solidFill>
              <a:srgbClr val="6D3BD1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DMA Register File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MMIO registers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src / dst / len / mode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status / bytes / error</a:t>
            </a:r>
          </a:p>
        </p:txBody>
      </p:sp>
      <p:sp>
        <p:nvSpPr>
          <p:cNvPr id="12" name="apb-to-regfile">
            <a:extLst xmlns:a="http://schemas.openxmlformats.org/drawingml/2006/main">
              <a:ext uri="{FF2B5EF4-FFF2-40B4-BE49-F238E27FC236}">
                <a16:creationId xmlns:a16="http://schemas.microsoft.com/office/drawing/2014/main" id="{1620B00F-027B-44E0-8ED1-A1DB88D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714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3BD1"/>
          </a:solidFill>
          <a:ln xmlns:a="http://schemas.openxmlformats.org/drawingml/2006/main" w="9525">
            <a:solidFill>
              <a:srgbClr val="6D3BD1"/>
            </a:solidFill>
            <a:prstDash val="solid"/>
          </a:ln>
        </p:spPr>
      </p:sp>
      <p:sp>
        <p:nvSpPr>
          <p:cNvPr id="13" name="apb-label">
            <a:extLst xmlns:a="http://schemas.openxmlformats.org/drawingml/2006/main">
              <a:ext uri="{FF2B5EF4-FFF2-40B4-BE49-F238E27FC236}">
                <a16:creationId xmlns:a16="http://schemas.microsoft.com/office/drawing/2014/main" id="{F8DFB4B6-2F55-4A15-85A7-2A4D91B7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3BD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3BD1"/>
                </a:solidFill>
                <a:latin typeface="Arial"/>
                <a:ea typeface="Arial"/>
                <a:cs typeface="Arial"/>
              </a:rPr>
              <a:t>APB bus</a:t>
            </a:r>
          </a:p>
        </p:txBody>
      </p:sp>
      <p:sp>
        <p:nvSpPr>
          <p:cNvPr id="14" name="dmem">
            <a:extLst xmlns:a="http://schemas.openxmlformats.org/drawingml/2006/main">
              <a:ext uri="{FF2B5EF4-FFF2-40B4-BE49-F238E27FC236}">
                <a16:creationId xmlns:a16="http://schemas.microsoft.com/office/drawing/2014/main" id="{0C2D7658-F5ED-4C5E-9721-5DC17951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314700"/>
            <a:ext cx="1619250" cy="2952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9050">
            <a:solidFill>
              <a:srgbClr val="47556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4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DMEM / BRAM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4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2-port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4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Port A: CPU/MMIO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4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Port B: DMA</a:t>
            </a:r>
          </a:p>
        </p:txBody>
      </p:sp>
      <p:sp>
        <p:nvSpPr>
          <p:cNvPr id="15" name="uart">
            <a:extLst xmlns:a="http://schemas.openxmlformats.org/drawingml/2006/main">
              <a:ext uri="{FF2B5EF4-FFF2-40B4-BE49-F238E27FC236}">
                <a16:creationId xmlns:a16="http://schemas.microsoft.com/office/drawing/2014/main" id="{675669B2-3D01-4C45-AA06-44D12FEF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96200"/>
            <a:ext cx="1905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7556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UART</a:t>
            </a:r>
          </a:p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loader / debug output</a:t>
            </a:r>
          </a:p>
        </p:txBody>
      </p:sp>
      <p:sp>
        <p:nvSpPr>
          <p:cNvPr id="16" name="uart-out">
            <a:extLst xmlns:a="http://schemas.openxmlformats.org/drawingml/2006/main">
              <a:ext uri="{FF2B5EF4-FFF2-40B4-BE49-F238E27FC236}">
                <a16:creationId xmlns:a16="http://schemas.microsoft.com/office/drawing/2014/main" id="{57B6DEAB-2844-41FC-8318-6206EB70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943850"/>
            <a:ext cx="857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uart-aux">
            <a:extLst xmlns:a="http://schemas.openxmlformats.org/drawingml/2006/main">
              <a:ext uri="{FF2B5EF4-FFF2-40B4-BE49-F238E27FC236}">
                <a16:creationId xmlns:a16="http://schemas.microsoft.com/office/drawing/2014/main" id="{BE87E49E-70C8-4AEC-AB74-FFE3AE80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82105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aux_data_i</a:t>
            </a:r>
          </a:p>
        </p:txBody>
      </p:sp>
      <p:sp>
        <p:nvSpPr>
          <p:cNvPr id="18" name="output">
            <a:extLst xmlns:a="http://schemas.openxmlformats.org/drawingml/2006/main">
              <a:ext uri="{FF2B5EF4-FFF2-40B4-BE49-F238E27FC236}">
                <a16:creationId xmlns:a16="http://schemas.microsoft.com/office/drawing/2014/main" id="{06723D62-3A06-4254-91FA-97F20A8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6667500"/>
            <a:ext cx="1190625" cy="1714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63CE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OUTPUT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uart_tx_o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busy_o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done_o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7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error_o</a:t>
            </a:r>
          </a:p>
        </p:txBody>
      </p:sp>
      <p:sp>
        <p:nvSpPr>
          <p:cNvPr id="19" name="tx-section-outer">
            <a:extLst xmlns:a="http://schemas.openxmlformats.org/drawingml/2006/main">
              <a:ext uri="{FF2B5EF4-FFF2-40B4-BE49-F238E27FC236}">
                <a16:creationId xmlns:a16="http://schemas.microsoft.com/office/drawing/2014/main" id="{AF785062-A7B2-4A15-9735-8982CA89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66875"/>
            <a:ext cx="78581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28575">
            <a:solidFill>
              <a:srgbClr val="E41D2D"/>
            </a:solidFill>
            <a:prstDash val="solid"/>
          </a:ln>
        </p:spPr>
      </p:sp>
      <p:sp>
        <p:nvSpPr>
          <p:cNvPr id="20" name="tx-section-header">
            <a:extLst xmlns:a="http://schemas.openxmlformats.org/drawingml/2006/main">
              <a:ext uri="{FF2B5EF4-FFF2-40B4-BE49-F238E27FC236}">
                <a16:creationId xmlns:a16="http://schemas.microsoft.com/office/drawing/2014/main" id="{2D2ACA41-8650-44FE-B79D-EFA858F2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66875"/>
            <a:ext cx="7858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41D2D"/>
          </a:solidFill>
          <a:ln xmlns:a="http://schemas.openxmlformats.org/drawingml/2006/main" w="19050">
            <a:solidFill>
              <a:srgbClr val="E41D2D"/>
            </a:solidFill>
            <a:prstDash val="solid"/>
          </a:ln>
        </p:spPr>
        <p:txBody>
          <a:bodyPr xmlns:a="http://schemas.openxmlformats.org/drawingml/2006/main" lIns="17145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TX expanded datapath: plaintext -&gt; compressed ciphertext</a:t>
            </a:r>
          </a:p>
        </p:txBody>
      </p:sp>
      <p:sp>
        <p:nvSpPr>
          <p:cNvPr id="21" name="tx-dma">
            <a:extLst xmlns:a="http://schemas.openxmlformats.org/drawingml/2006/main">
              <a:ext uri="{FF2B5EF4-FFF2-40B4-BE49-F238E27FC236}">
                <a16:creationId xmlns:a16="http://schemas.microsoft.com/office/drawing/2014/main" id="{AA2F8305-7649-4E63-999F-10307D30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24125"/>
            <a:ext cx="904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1D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TX DMA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22" name="tx-dma-sub">
            <a:extLst xmlns:a="http://schemas.openxmlformats.org/drawingml/2006/main">
              <a:ext uri="{FF2B5EF4-FFF2-40B4-BE49-F238E27FC236}">
                <a16:creationId xmlns:a16="http://schemas.microsoft.com/office/drawing/2014/main" id="{10F02097-DFCF-4E4D-8785-EED99F63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67025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read source DMEM</a:t>
            </a:r>
          </a:p>
        </p:txBody>
      </p:sp>
      <p:sp>
        <p:nvSpPr>
          <p:cNvPr id="23" name="tx-huff">
            <a:extLst xmlns:a="http://schemas.openxmlformats.org/drawingml/2006/main">
              <a:ext uri="{FF2B5EF4-FFF2-40B4-BE49-F238E27FC236}">
                <a16:creationId xmlns:a16="http://schemas.microsoft.com/office/drawing/2014/main" id="{E2547560-A511-43F3-AFB8-B6600517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24125"/>
            <a:ext cx="1285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Huffman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compressor</a:t>
            </a:r>
          </a:p>
        </p:txBody>
      </p:sp>
      <p:sp>
        <p:nvSpPr>
          <p:cNvPr id="24" name="tx-huff-sub">
            <a:extLst xmlns:a="http://schemas.openxmlformats.org/drawingml/2006/main">
              <a:ext uri="{FF2B5EF4-FFF2-40B4-BE49-F238E27FC236}">
                <a16:creationId xmlns:a16="http://schemas.microsoft.com/office/drawing/2014/main" id="{1313B1BE-3B9B-4813-801D-FCB7B4EA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867025"/>
            <a:ext cx="105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freq + codebook + emit</a:t>
            </a:r>
          </a:p>
        </p:txBody>
      </p:sp>
      <p:sp>
        <p:nvSpPr>
          <p:cNvPr id="25" name="tx-pack">
            <a:extLst xmlns:a="http://schemas.openxmlformats.org/drawingml/2006/main">
              <a:ext uri="{FF2B5EF4-FFF2-40B4-BE49-F238E27FC236}">
                <a16:creationId xmlns:a16="http://schemas.microsoft.com/office/drawing/2014/main" id="{A66BE30A-0E41-40B4-BCE0-04C7B664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524125"/>
            <a:ext cx="1190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Bit packer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128-bit word</a:t>
            </a:r>
          </a:p>
        </p:txBody>
      </p:sp>
      <p:sp>
        <p:nvSpPr>
          <p:cNvPr id="26" name="tx-pack-sub">
            <a:extLst xmlns:a="http://schemas.openxmlformats.org/drawingml/2006/main">
              <a:ext uri="{FF2B5EF4-FFF2-40B4-BE49-F238E27FC236}">
                <a16:creationId xmlns:a16="http://schemas.microsoft.com/office/drawing/2014/main" id="{C0207C9C-03B5-4C6D-91C0-2291EAED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2867025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final + valid bits</a:t>
            </a:r>
          </a:p>
        </p:txBody>
      </p:sp>
      <p:sp>
        <p:nvSpPr>
          <p:cNvPr id="27" name="tx-aes">
            <a:extLst xmlns:a="http://schemas.openxmlformats.org/drawingml/2006/main">
              <a:ext uri="{FF2B5EF4-FFF2-40B4-BE49-F238E27FC236}">
                <a16:creationId xmlns:a16="http://schemas.microsoft.com/office/drawing/2014/main" id="{D2D45D87-3219-4E2B-A097-5AD7DD4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524125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1D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AES-128-CBC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encrypt</a:t>
            </a:r>
          </a:p>
        </p:txBody>
      </p:sp>
      <p:sp>
        <p:nvSpPr>
          <p:cNvPr id="28" name="tx-aes-sub">
            <a:extLst xmlns:a="http://schemas.openxmlformats.org/drawingml/2006/main">
              <a:ext uri="{FF2B5EF4-FFF2-40B4-BE49-F238E27FC236}">
                <a16:creationId xmlns:a16="http://schemas.microsoft.com/office/drawing/2014/main" id="{1C5135A4-0AE0-43E6-AC5A-4B5D245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28670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XOR IV/Ci-1 + AES rounds</a:t>
            </a:r>
          </a:p>
        </p:txBody>
      </p:sp>
      <p:sp>
        <p:nvSpPr>
          <p:cNvPr id="29" name="tx-emit">
            <a:extLst xmlns:a="http://schemas.openxmlformats.org/drawingml/2006/main">
              <a:ext uri="{FF2B5EF4-FFF2-40B4-BE49-F238E27FC236}">
                <a16:creationId xmlns:a16="http://schemas.microsoft.com/office/drawing/2014/main" id="{136DC1E7-B3F8-49CA-BD65-06977463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2524125"/>
            <a:ext cx="10953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1D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AES emit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30" name="tx-emit-sub">
            <a:extLst xmlns:a="http://schemas.openxmlformats.org/drawingml/2006/main">
              <a:ext uri="{FF2B5EF4-FFF2-40B4-BE49-F238E27FC236}">
                <a16:creationId xmlns:a16="http://schemas.microsoft.com/office/drawing/2014/main" id="{911D1662-0AC9-45A1-80DA-0404D4C1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286702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write ciphertext</a:t>
            </a:r>
          </a:p>
        </p:txBody>
      </p:sp>
      <p:sp>
        <p:nvSpPr>
          <p:cNvPr id="31" name="tx-a0">
            <a:extLst xmlns:a="http://schemas.openxmlformats.org/drawingml/2006/main">
              <a:ext uri="{FF2B5EF4-FFF2-40B4-BE49-F238E27FC236}">
                <a16:creationId xmlns:a16="http://schemas.microsoft.com/office/drawing/2014/main" id="{DBA1D40A-DAFA-44A3-AD2C-5331604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62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1D2D"/>
          </a:solidFill>
          <a:ln xmlns:a="http://schemas.openxmlformats.org/drawingml/2006/main" w="9525">
            <a:solidFill>
              <a:srgbClr val="E41D2D"/>
            </a:solidFill>
            <a:prstDash val="solid"/>
          </a:ln>
        </p:spPr>
      </p:sp>
      <p:sp>
        <p:nvSpPr>
          <p:cNvPr id="32" name="tx-a1">
            <a:extLst xmlns:a="http://schemas.openxmlformats.org/drawingml/2006/main">
              <a:ext uri="{FF2B5EF4-FFF2-40B4-BE49-F238E27FC236}">
                <a16:creationId xmlns:a16="http://schemas.microsoft.com/office/drawing/2014/main" id="{796EE9B8-4DD0-460A-97C3-B222EB7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1D2D"/>
          </a:solidFill>
          <a:ln xmlns:a="http://schemas.openxmlformats.org/drawingml/2006/main" w="9525">
            <a:solidFill>
              <a:srgbClr val="E41D2D"/>
            </a:solidFill>
            <a:prstDash val="solid"/>
          </a:ln>
        </p:spPr>
      </p:sp>
      <p:sp>
        <p:nvSpPr>
          <p:cNvPr id="33" name="tx-a2">
            <a:extLst xmlns:a="http://schemas.openxmlformats.org/drawingml/2006/main">
              <a:ext uri="{FF2B5EF4-FFF2-40B4-BE49-F238E27FC236}">
                <a16:creationId xmlns:a16="http://schemas.microsoft.com/office/drawing/2014/main" id="{F66E5C63-F18F-4D4D-876F-26EB35B2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762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1D2D"/>
          </a:solidFill>
          <a:ln xmlns:a="http://schemas.openxmlformats.org/drawingml/2006/main" w="9525">
            <a:solidFill>
              <a:srgbClr val="E41D2D"/>
            </a:solidFill>
            <a:prstDash val="solid"/>
          </a:ln>
        </p:spPr>
      </p:sp>
      <p:sp>
        <p:nvSpPr>
          <p:cNvPr id="34" name="tx-a3">
            <a:extLst xmlns:a="http://schemas.openxmlformats.org/drawingml/2006/main">
              <a:ext uri="{FF2B5EF4-FFF2-40B4-BE49-F238E27FC236}">
                <a16:creationId xmlns:a16="http://schemas.microsoft.com/office/drawing/2014/main" id="{3A619F95-B5CE-4F9E-AA31-46B7146D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2762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1D2D"/>
          </a:solidFill>
          <a:ln xmlns:a="http://schemas.openxmlformats.org/drawingml/2006/main" w="9525">
            <a:solidFill>
              <a:srgbClr val="E41D2D"/>
            </a:solidFill>
            <a:prstDash val="solid"/>
          </a:ln>
        </p:spPr>
      </p:sp>
      <p:sp>
        <p:nvSpPr>
          <p:cNvPr id="35" name="tx-to-dmem">
            <a:extLst xmlns:a="http://schemas.openxmlformats.org/drawingml/2006/main">
              <a:ext uri="{FF2B5EF4-FFF2-40B4-BE49-F238E27FC236}">
                <a16:creationId xmlns:a16="http://schemas.microsoft.com/office/drawing/2014/main" id="{DCE190FA-B532-45AD-B3E4-E86FC8CA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276225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1D2D"/>
          </a:solidFill>
          <a:ln xmlns:a="http://schemas.openxmlformats.org/drawingml/2006/main" w="9525">
            <a:solidFill>
              <a:srgbClr val="E41D2D"/>
            </a:solidFill>
            <a:prstDash val="solid"/>
          </a:ln>
        </p:spPr>
      </p:sp>
      <p:sp>
        <p:nvSpPr>
          <p:cNvPr id="36" name="tx-writeback">
            <a:extLst xmlns:a="http://schemas.openxmlformats.org/drawingml/2006/main">
              <a:ext uri="{FF2B5EF4-FFF2-40B4-BE49-F238E27FC236}">
                <a16:creationId xmlns:a16="http://schemas.microsoft.com/office/drawing/2014/main" id="{69774F4F-4AB3-4461-BD01-69890471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3409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41D2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41D2D"/>
                </a:solidFill>
                <a:latin typeface="Arial"/>
                <a:ea typeface="Arial"/>
                <a:cs typeface="Arial"/>
              </a:rPr>
              <a:t>ciphertext + metadata writeback</a:t>
            </a:r>
          </a:p>
        </p:txBody>
      </p:sp>
      <p:sp>
        <p:nvSpPr>
          <p:cNvPr id="37" name="tx-status">
            <a:extLst xmlns:a="http://schemas.openxmlformats.org/drawingml/2006/main">
              <a:ext uri="{FF2B5EF4-FFF2-40B4-BE49-F238E27FC236}">
                <a16:creationId xmlns:a16="http://schemas.microsoft.com/office/drawing/2014/main" id="{CA1BB327-89D0-434E-96A1-49CA2B5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2190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1D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11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TX status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11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busy / done / error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11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bytes produced</a:t>
            </a:r>
          </a:p>
        </p:txBody>
      </p:sp>
      <p:sp>
        <p:nvSpPr>
          <p:cNvPr id="38" name="reg-to-tx">
            <a:extLst xmlns:a="http://schemas.openxmlformats.org/drawingml/2006/main">
              <a:ext uri="{FF2B5EF4-FFF2-40B4-BE49-F238E27FC236}">
                <a16:creationId xmlns:a16="http://schemas.microsoft.com/office/drawing/2014/main" id="{586F728A-12B1-46C2-B046-01A7FAE1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3BD1"/>
          </a:solidFill>
          <a:ln xmlns:a="http://schemas.openxmlformats.org/drawingml/2006/main" w="9525">
            <a:solidFill>
              <a:srgbClr val="6D3BD1"/>
            </a:solidFill>
            <a:prstDash val="solid"/>
          </a:ln>
        </p:spPr>
      </p:sp>
      <p:sp>
        <p:nvSpPr>
          <p:cNvPr id="39" name="reg-to-tx-label">
            <a:extLst xmlns:a="http://schemas.openxmlformats.org/drawingml/2006/main">
              <a:ext uri="{FF2B5EF4-FFF2-40B4-BE49-F238E27FC236}">
                <a16:creationId xmlns:a16="http://schemas.microsoft.com/office/drawing/2014/main" id="{9AEA52E4-D5E0-4327-90BE-E80A4AFA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28850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D3BD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3BD1"/>
                </a:solidFill>
                <a:latin typeface="Arial"/>
                <a:ea typeface="Arial"/>
                <a:cs typeface="Arial"/>
              </a:rPr>
              <a:t>cfg / start</a:t>
            </a:r>
          </a:p>
          <a:p xmlns:a="http://schemas.openxmlformats.org/drawingml/2006/main">
            <a:pPr algn="ctr">
              <a:defRPr sz="975" b="0">
                <a:solidFill>
                  <a:srgbClr val="6D3BD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3BD1"/>
                </a:solidFill>
                <a:latin typeface="Arial"/>
                <a:ea typeface="Arial"/>
                <a:cs typeface="Arial"/>
              </a:rPr>
              <a:t>status poll</a:t>
            </a:r>
          </a:p>
        </p:txBody>
      </p:sp>
      <p:sp>
        <p:nvSpPr>
          <p:cNvPr id="40" name="rx-section-outer">
            <a:extLst xmlns:a="http://schemas.openxmlformats.org/drawingml/2006/main">
              <a:ext uri="{FF2B5EF4-FFF2-40B4-BE49-F238E27FC236}">
                <a16:creationId xmlns:a16="http://schemas.microsoft.com/office/drawing/2014/main" id="{2A725631-422F-4BE2-B58A-AB74BB37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10125"/>
            <a:ext cx="785812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41" name="rx-section-header">
            <a:extLst xmlns:a="http://schemas.openxmlformats.org/drawingml/2006/main">
              <a:ext uri="{FF2B5EF4-FFF2-40B4-BE49-F238E27FC236}">
                <a16:creationId xmlns:a16="http://schemas.microsoft.com/office/drawing/2014/main" id="{37E36607-1632-46AB-A40B-40CB463B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10125"/>
            <a:ext cx="7858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71450" tIns="0" rIns="7620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RX expanded datapath: ciphertext -&gt; recovered plaintext</a:t>
            </a:r>
          </a:p>
        </p:txBody>
      </p:sp>
      <p:sp>
        <p:nvSpPr>
          <p:cNvPr id="42" name="rx-dma">
            <a:extLst xmlns:a="http://schemas.openxmlformats.org/drawingml/2006/main">
              <a:ext uri="{FF2B5EF4-FFF2-40B4-BE49-F238E27FC236}">
                <a16:creationId xmlns:a16="http://schemas.microsoft.com/office/drawing/2014/main" id="{A82C78FC-FFA4-4675-9F6E-9E52893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667375"/>
            <a:ext cx="904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RX DMA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43" name="rx-dma-sub">
            <a:extLst xmlns:a="http://schemas.openxmlformats.org/drawingml/2006/main">
              <a:ext uri="{FF2B5EF4-FFF2-40B4-BE49-F238E27FC236}">
                <a16:creationId xmlns:a16="http://schemas.microsoft.com/office/drawing/2014/main" id="{188A3303-A7EF-41BC-98D2-350E6490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6010275"/>
            <a:ext cx="67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read metadata + ciphertext</a:t>
            </a:r>
          </a:p>
        </p:txBody>
      </p:sp>
      <p:sp>
        <p:nvSpPr>
          <p:cNvPr id="44" name="rx-aes">
            <a:extLst xmlns:a="http://schemas.openxmlformats.org/drawingml/2006/main">
              <a:ext uri="{FF2B5EF4-FFF2-40B4-BE49-F238E27FC236}">
                <a16:creationId xmlns:a16="http://schemas.microsoft.com/office/drawing/2014/main" id="{3A15F592-D836-478E-A1A0-90099F42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667375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AES-128-CBC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decrypt</a:t>
            </a:r>
          </a:p>
        </p:txBody>
      </p:sp>
      <p:sp>
        <p:nvSpPr>
          <p:cNvPr id="45" name="rx-aes-sub">
            <a:extLst xmlns:a="http://schemas.openxmlformats.org/drawingml/2006/main">
              <a:ext uri="{FF2B5EF4-FFF2-40B4-BE49-F238E27FC236}">
                <a16:creationId xmlns:a16="http://schemas.microsoft.com/office/drawing/2014/main" id="{E370908B-FF86-47A0-8C6F-3338335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0102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AES inv rounds + XOR</a:t>
            </a:r>
          </a:p>
        </p:txBody>
      </p:sp>
      <p:sp>
        <p:nvSpPr>
          <p:cNvPr id="46" name="rx-depack">
            <a:extLst xmlns:a="http://schemas.openxmlformats.org/drawingml/2006/main">
              <a:ext uri="{FF2B5EF4-FFF2-40B4-BE49-F238E27FC236}">
                <a16:creationId xmlns:a16="http://schemas.microsoft.com/office/drawing/2014/main" id="{CEA779EB-ADAB-4C26-A148-CAA43225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5667375"/>
            <a:ext cx="1190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Bit depacker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128-bit word</a:t>
            </a:r>
          </a:p>
        </p:txBody>
      </p:sp>
      <p:sp>
        <p:nvSpPr>
          <p:cNvPr id="47" name="rx-depack-sub">
            <a:extLst xmlns:a="http://schemas.openxmlformats.org/drawingml/2006/main">
              <a:ext uri="{FF2B5EF4-FFF2-40B4-BE49-F238E27FC236}">
                <a16:creationId xmlns:a16="http://schemas.microsoft.com/office/drawing/2014/main" id="{C7E5FCF8-F065-407F-9298-8FF307C0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6010275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remove padding</a:t>
            </a:r>
          </a:p>
        </p:txBody>
      </p:sp>
      <p:sp>
        <p:nvSpPr>
          <p:cNvPr id="48" name="rx-header">
            <a:extLst xmlns:a="http://schemas.openxmlformats.org/drawingml/2006/main">
              <a:ext uri="{FF2B5EF4-FFF2-40B4-BE49-F238E27FC236}">
                <a16:creationId xmlns:a16="http://schemas.microsoft.com/office/drawing/2014/main" id="{D15FD4EF-5490-450E-A446-06A17DA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5667375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3BD1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Header parser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+ table rebuild</a:t>
            </a:r>
          </a:p>
        </p:txBody>
      </p:sp>
      <p:sp>
        <p:nvSpPr>
          <p:cNvPr id="49" name="rx-header-sub">
            <a:extLst xmlns:a="http://schemas.openxmlformats.org/drawingml/2006/main">
              <a:ext uri="{FF2B5EF4-FFF2-40B4-BE49-F238E27FC236}">
                <a16:creationId xmlns:a16="http://schemas.microsoft.com/office/drawing/2014/main" id="{EA0FF323-1F94-434B-AEFB-D570E92D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60102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symbol + code_len</a:t>
            </a:r>
          </a:p>
        </p:txBody>
      </p:sp>
      <p:sp>
        <p:nvSpPr>
          <p:cNvPr id="50" name="rx-decode">
            <a:extLst xmlns:a="http://schemas.openxmlformats.org/drawingml/2006/main">
              <a:ext uri="{FF2B5EF4-FFF2-40B4-BE49-F238E27FC236}">
                <a16:creationId xmlns:a16="http://schemas.microsoft.com/office/drawing/2014/main" id="{55A57ECA-95D7-4D83-8945-5DBAD3CF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5667375"/>
            <a:ext cx="114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3BD1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Prefix decoder</a:t>
            </a:r>
          </a:p>
        </p:txBody>
      </p:sp>
      <p:sp>
        <p:nvSpPr>
          <p:cNvPr id="51" name="rx-decode-sub">
            <a:extLst xmlns:a="http://schemas.openxmlformats.org/drawingml/2006/main">
              <a:ext uri="{FF2B5EF4-FFF2-40B4-BE49-F238E27FC236}">
                <a16:creationId xmlns:a16="http://schemas.microsoft.com/office/drawing/2014/main" id="{212724CE-DCC5-41F8-81E1-228E6E44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60102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match canonical codes</a:t>
            </a:r>
          </a:p>
        </p:txBody>
      </p:sp>
      <p:sp>
        <p:nvSpPr>
          <p:cNvPr id="52" name="rx-pack">
            <a:extLst xmlns:a="http://schemas.openxmlformats.org/drawingml/2006/main">
              <a:ext uri="{FF2B5EF4-FFF2-40B4-BE49-F238E27FC236}">
                <a16:creationId xmlns:a16="http://schemas.microsoft.com/office/drawing/2014/main" id="{51358AE1-234B-48C9-B078-6C3E95A2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667375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Byte / word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350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packer</a:t>
            </a:r>
          </a:p>
        </p:txBody>
      </p:sp>
      <p:sp>
        <p:nvSpPr>
          <p:cNvPr id="53" name="rx-pack-sub">
            <a:extLst xmlns:a="http://schemas.openxmlformats.org/drawingml/2006/main">
              <a:ext uri="{FF2B5EF4-FFF2-40B4-BE49-F238E27FC236}">
                <a16:creationId xmlns:a16="http://schemas.microsoft.com/office/drawing/2014/main" id="{CBA6A460-F971-4AEB-AB14-FB770328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10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DMEM plaintext words</a:t>
            </a:r>
          </a:p>
        </p:txBody>
      </p:sp>
      <p:sp>
        <p:nvSpPr>
          <p:cNvPr id="54" name="rx-a0">
            <a:extLst xmlns:a="http://schemas.openxmlformats.org/drawingml/2006/main">
              <a:ext uri="{FF2B5EF4-FFF2-40B4-BE49-F238E27FC236}">
                <a16:creationId xmlns:a16="http://schemas.microsoft.com/office/drawing/2014/main" id="{5063BFEC-B9DC-401E-A164-A9CFACB7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55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5" name="rx-a1">
            <a:extLst xmlns:a="http://schemas.openxmlformats.org/drawingml/2006/main">
              <a:ext uri="{FF2B5EF4-FFF2-40B4-BE49-F238E27FC236}">
                <a16:creationId xmlns:a16="http://schemas.microsoft.com/office/drawing/2014/main" id="{4CA225AA-493B-4705-AD89-2D19C554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59055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6" name="rx-a2">
            <a:extLst xmlns:a="http://schemas.openxmlformats.org/drawingml/2006/main">
              <a:ext uri="{FF2B5EF4-FFF2-40B4-BE49-F238E27FC236}">
                <a16:creationId xmlns:a16="http://schemas.microsoft.com/office/drawing/2014/main" id="{AA8C8206-4B9C-41CC-BC49-A9138A0D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59055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7" name="rx-a3">
            <a:extLst xmlns:a="http://schemas.openxmlformats.org/drawingml/2006/main">
              <a:ext uri="{FF2B5EF4-FFF2-40B4-BE49-F238E27FC236}">
                <a16:creationId xmlns:a16="http://schemas.microsoft.com/office/drawing/2014/main" id="{A9F924CD-7156-4524-88BE-9678F0C1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25" y="59055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8" name="rx-a4">
            <a:extLst xmlns:a="http://schemas.openxmlformats.org/drawingml/2006/main">
              <a:ext uri="{FF2B5EF4-FFF2-40B4-BE49-F238E27FC236}">
                <a16:creationId xmlns:a16="http://schemas.microsoft.com/office/drawing/2014/main" id="{955B19B0-7A7A-4014-89AD-7C1998C2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59055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9" name="rx-status">
            <a:extLst xmlns:a="http://schemas.openxmlformats.org/drawingml/2006/main">
              <a:ext uri="{FF2B5EF4-FFF2-40B4-BE49-F238E27FC236}">
                <a16:creationId xmlns:a16="http://schemas.microsoft.com/office/drawing/2014/main" id="{031E39CD-A8A7-47BB-9638-7A44503B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67500"/>
            <a:ext cx="2333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11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RX status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11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busy / done / error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11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bytes recovered</a:t>
            </a:r>
          </a:p>
        </p:txBody>
      </p:sp>
      <p:sp>
        <p:nvSpPr>
          <p:cNvPr id="60" name="reg-to-rx">
            <a:extLst xmlns:a="http://schemas.openxmlformats.org/drawingml/2006/main">
              <a:ext uri="{FF2B5EF4-FFF2-40B4-BE49-F238E27FC236}">
                <a16:creationId xmlns:a16="http://schemas.microsoft.com/office/drawing/2014/main" id="{041B7413-A7DF-4FFC-AFBE-52432944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6262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3BD1"/>
          </a:solidFill>
          <a:ln xmlns:a="http://schemas.openxmlformats.org/drawingml/2006/main" w="9525">
            <a:solidFill>
              <a:srgbClr val="6D3BD1"/>
            </a:solidFill>
            <a:prstDash val="solid"/>
          </a:ln>
        </p:spPr>
      </p:sp>
      <p:sp>
        <p:nvSpPr>
          <p:cNvPr id="61" name="reg-to-rx-label">
            <a:extLst xmlns:a="http://schemas.openxmlformats.org/drawingml/2006/main">
              <a:ext uri="{FF2B5EF4-FFF2-40B4-BE49-F238E27FC236}">
                <a16:creationId xmlns:a16="http://schemas.microsoft.com/office/drawing/2014/main" id="{3965E076-4AF9-404D-BDE8-CA2DF352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34000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D3BD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3BD1"/>
                </a:solidFill>
                <a:latin typeface="Arial"/>
                <a:ea typeface="Arial"/>
                <a:cs typeface="Arial"/>
              </a:rPr>
              <a:t>selected file</a:t>
            </a:r>
          </a:p>
          <a:p xmlns:a="http://schemas.openxmlformats.org/drawingml/2006/main">
            <a:pPr algn="ctr">
              <a:defRPr sz="975" b="0">
                <a:solidFill>
                  <a:srgbClr val="6D3BD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3BD1"/>
                </a:solidFill>
                <a:latin typeface="Arial"/>
                <a:ea typeface="Arial"/>
                <a:cs typeface="Arial"/>
              </a:rPr>
              <a:t>RX start</a:t>
            </a:r>
          </a:p>
        </p:txBody>
      </p:sp>
      <p:sp>
        <p:nvSpPr>
          <p:cNvPr id="62" name="rx-to-dmem">
            <a:extLst xmlns:a="http://schemas.openxmlformats.org/drawingml/2006/main">
              <a:ext uri="{FF2B5EF4-FFF2-40B4-BE49-F238E27FC236}">
                <a16:creationId xmlns:a16="http://schemas.microsoft.com/office/drawing/2014/main" id="{621635EC-DFC6-44AC-B9F6-178A408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59055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63" name="rx-writeback">
            <a:extLst xmlns:a="http://schemas.openxmlformats.org/drawingml/2006/main">
              <a:ext uri="{FF2B5EF4-FFF2-40B4-BE49-F238E27FC236}">
                <a16:creationId xmlns:a16="http://schemas.microsoft.com/office/drawing/2014/main" id="{0EEFE240-3608-4745-A1E9-F59B6B7D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6534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59669"/>
                </a:solidFill>
                <a:latin typeface="Arial"/>
                <a:ea typeface="Arial"/>
                <a:cs typeface="Arial"/>
              </a:rPr>
              <a:t>plaintext writeback</a:t>
            </a:r>
          </a:p>
        </p:txBody>
      </p:sp>
      <p:sp>
        <p:nvSpPr>
          <p:cNvPr id="64" name="accelerator-boundary">
            <a:extLst xmlns:a="http://schemas.openxmlformats.org/drawingml/2006/main">
              <a:ext uri="{FF2B5EF4-FFF2-40B4-BE49-F238E27FC236}">
                <a16:creationId xmlns:a16="http://schemas.microsoft.com/office/drawing/2014/main" id="{A632CB6B-906B-4872-BD17-94DE19A1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28750"/>
            <a:ext cx="8286750" cy="6524625"/>
          </a:xfrm>
          <a:prstGeom xmlns:a="http://schemas.openxmlformats.org/drawingml/2006/main" prst="roundRect">
            <a:avLst>
              <a:gd name="adj" fmla="val 1168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41D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accelerator-label">
            <a:extLst xmlns:a="http://schemas.openxmlformats.org/drawingml/2006/main">
              <a:ext uri="{FF2B5EF4-FFF2-40B4-BE49-F238E27FC236}">
                <a16:creationId xmlns:a16="http://schemas.microsoft.com/office/drawing/2014/main" id="{2F78EF59-700B-4670-BD7C-06FCEB2D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4668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41D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1D2D"/>
                </a:solidFill>
                <a:latin typeface="Arial"/>
                <a:ea typeface="Arial"/>
                <a:cs typeface="Arial"/>
              </a:rPr>
              <a:t>Secure-storage accelerator + DMA memory subsystem</a:t>
            </a:r>
          </a:p>
        </p:txBody>
      </p:sp>
      <p:sp>
        <p:nvSpPr>
          <p:cNvPr id="66" name="mem-access-down">
            <a:extLst xmlns:a="http://schemas.openxmlformats.org/drawingml/2006/main">
              <a:ext uri="{FF2B5EF4-FFF2-40B4-BE49-F238E27FC236}">
                <a16:creationId xmlns:a16="http://schemas.microsoft.com/office/drawing/2014/main" id="{1D621D2D-EEB4-41F3-A3D4-49727DE0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575" y="1952625"/>
            <a:ext cx="228600" cy="1352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7" name="mem-access-text">
            <a:extLst xmlns:a="http://schemas.openxmlformats.org/drawingml/2006/main">
              <a:ext uri="{FF2B5EF4-FFF2-40B4-BE49-F238E27FC236}">
                <a16:creationId xmlns:a16="http://schemas.microsoft.com/office/drawing/2014/main" id="{D2AFE6BF-5A18-4A2A-9B53-862974CA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180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Memory access</a:t>
            </a:r>
          </a:p>
        </p:txBody>
      </p:sp>
      <p:sp>
        <p:nvSpPr>
          <p:cNvPr id="68" name="dmem-to-output">
            <a:extLst xmlns:a="http://schemas.openxmlformats.org/drawingml/2006/main">
              <a:ext uri="{FF2B5EF4-FFF2-40B4-BE49-F238E27FC236}">
                <a16:creationId xmlns:a16="http://schemas.microsoft.com/office/drawing/2014/main" id="{3F238439-E3B3-4ECE-9126-7D9A773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0" y="7362825"/>
            <a:ext cx="4286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9525">
            <a:solidFill>
              <a:srgbClr val="0B63CE"/>
            </a:solidFill>
            <a:prstDash val="solid"/>
          </a:ln>
        </p:spPr>
      </p:sp>
      <p:sp>
        <p:nvSpPr>
          <p:cNvPr id="69" name="output-note">
            <a:extLst xmlns:a="http://schemas.openxmlformats.org/drawingml/2006/main">
              <a:ext uri="{FF2B5EF4-FFF2-40B4-BE49-F238E27FC236}">
                <a16:creationId xmlns:a16="http://schemas.microsoft.com/office/drawing/2014/main" id="{249867AB-C548-404A-B653-7F9F7DED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8458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status + UART</a:t>
            </a:r>
          </a:p>
        </p:txBody>
      </p:sp>
      <p:sp>
        <p:nvSpPr>
          <p:cNvPr id="70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4D5B9473-1E1A-46C4-8494-DBA80A20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2033"/>
                </a:solidFill>
                <a:latin typeface="Arial"/>
                <a:ea typeface="Arial"/>
                <a:cs typeface="Arial"/>
              </a:rPr>
              <a:t>Legend:</a:t>
            </a:r>
          </a:p>
        </p:txBody>
      </p:sp>
      <p:sp>
        <p:nvSpPr>
          <p:cNvPr id="71" name="legend-data">
            <a:extLst xmlns:a="http://schemas.openxmlformats.org/drawingml/2006/main">
              <a:ext uri="{FF2B5EF4-FFF2-40B4-BE49-F238E27FC236}">
                <a16:creationId xmlns:a16="http://schemas.microsoft.com/office/drawing/2014/main" id="{6CD36E94-E03D-48AD-85C2-8F9B97BC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72550"/>
            <a:ext cx="5238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9525">
            <a:solidFill>
              <a:srgbClr val="0B63CE"/>
            </a:solidFill>
            <a:prstDash val="solid"/>
          </a:ln>
        </p:spPr>
      </p:sp>
      <p:sp>
        <p:nvSpPr>
          <p:cNvPr id="72" name="legend-data-text">
            <a:extLst xmlns:a="http://schemas.openxmlformats.org/drawingml/2006/main">
              <a:ext uri="{FF2B5EF4-FFF2-40B4-BE49-F238E27FC236}">
                <a16:creationId xmlns:a16="http://schemas.microsoft.com/office/drawing/2014/main" id="{56EC3267-AFB7-4127-A4E2-2A7699AE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9439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data path</a:t>
            </a:r>
          </a:p>
        </p:txBody>
      </p:sp>
      <p:sp>
        <p:nvSpPr>
          <p:cNvPr id="73" name="legend-ctrl">
            <a:extLst xmlns:a="http://schemas.openxmlformats.org/drawingml/2006/main">
              <a:ext uri="{FF2B5EF4-FFF2-40B4-BE49-F238E27FC236}">
                <a16:creationId xmlns:a16="http://schemas.microsoft.com/office/drawing/2014/main" id="{68AD0546-2FDA-4FDE-ACB1-E16A96C6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8972550"/>
            <a:ext cx="5238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3BD1"/>
          </a:solidFill>
          <a:ln xmlns:a="http://schemas.openxmlformats.org/drawingml/2006/main" w="9525">
            <a:solidFill>
              <a:srgbClr val="6D3BD1"/>
            </a:solidFill>
            <a:prstDash val="solid"/>
          </a:ln>
        </p:spPr>
      </p:sp>
      <p:sp>
        <p:nvSpPr>
          <p:cNvPr id="74" name="legend-ctrl-text">
            <a:extLst xmlns:a="http://schemas.openxmlformats.org/drawingml/2006/main">
              <a:ext uri="{FF2B5EF4-FFF2-40B4-BE49-F238E27FC236}">
                <a16:creationId xmlns:a16="http://schemas.microsoft.com/office/drawing/2014/main" id="{CCC87E1D-EB4E-4DF9-A4C0-CA7C9072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89439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APB/control</a:t>
            </a:r>
          </a:p>
        </p:txBody>
      </p:sp>
      <p:sp>
        <p:nvSpPr>
          <p:cNvPr id="75" name="legend-tx">
            <a:extLst xmlns:a="http://schemas.openxmlformats.org/drawingml/2006/main">
              <a:ext uri="{FF2B5EF4-FFF2-40B4-BE49-F238E27FC236}">
                <a16:creationId xmlns:a16="http://schemas.microsoft.com/office/drawing/2014/main" id="{5910ADD9-917F-43A2-884B-123ED5C3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972550"/>
            <a:ext cx="5238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1D2D"/>
          </a:solidFill>
          <a:ln xmlns:a="http://schemas.openxmlformats.org/drawingml/2006/main" w="9525">
            <a:solidFill>
              <a:srgbClr val="E41D2D"/>
            </a:solidFill>
            <a:prstDash val="solid"/>
          </a:ln>
        </p:spPr>
      </p:sp>
      <p:sp>
        <p:nvSpPr>
          <p:cNvPr id="76" name="legend-tx-text">
            <a:extLst xmlns:a="http://schemas.openxmlformats.org/drawingml/2006/main">
              <a:ext uri="{FF2B5EF4-FFF2-40B4-BE49-F238E27FC236}">
                <a16:creationId xmlns:a16="http://schemas.microsoft.com/office/drawing/2014/main" id="{39BFB01A-63AD-4B9A-AD74-900AF0F0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943975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TX writeback</a:t>
            </a:r>
          </a:p>
        </p:txBody>
      </p:sp>
      <p:sp>
        <p:nvSpPr>
          <p:cNvPr id="77" name="legend-rx">
            <a:extLst xmlns:a="http://schemas.openxmlformats.org/drawingml/2006/main">
              <a:ext uri="{FF2B5EF4-FFF2-40B4-BE49-F238E27FC236}">
                <a16:creationId xmlns:a16="http://schemas.microsoft.com/office/drawing/2014/main" id="{A4CBF294-6EDA-41A7-B4C2-D29F731B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8972550"/>
            <a:ext cx="5238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78" name="legend-rx-text">
            <a:extLst xmlns:a="http://schemas.openxmlformats.org/drawingml/2006/main">
              <a:ext uri="{FF2B5EF4-FFF2-40B4-BE49-F238E27FC236}">
                <a16:creationId xmlns:a16="http://schemas.microsoft.com/office/drawing/2014/main" id="{40914FF5-3986-4350-AFDF-C00F52C7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8943975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RX readback</a:t>
            </a:r>
          </a:p>
        </p:txBody>
      </p:sp>
    </p:spTree>
    <p:extLst>
      <p:ext uri="{BB962C8B-B14F-4D97-AF65-F5344CB8AC3E}">
        <p14:creationId xmlns:p14="http://schemas.microsoft.com/office/powerpoint/2010/main" val="1709788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2026-07-02T10:48:04.1600000Z</dcterms:created>
  <dcterms:modified xsi:type="dcterms:W3CDTF">2026-07-02T10:48:04.1600000Z</dcterms:modified>
</coreProperties>
</file>